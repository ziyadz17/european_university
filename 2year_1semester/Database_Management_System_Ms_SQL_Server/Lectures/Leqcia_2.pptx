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61" r:id="rId2"/>
    <p:sldId id="313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7" r:id="rId12"/>
    <p:sldId id="338" r:id="rId13"/>
    <p:sldId id="362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4660"/>
  </p:normalViewPr>
  <p:slideViewPr>
    <p:cSldViewPr>
      <p:cViewPr varScale="1">
        <p:scale>
          <a:sx n="100" d="100"/>
          <a:sy n="100" d="100"/>
        </p:scale>
        <p:origin x="124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ECAD6-4D00-46A6-8B82-1748FFBDB7A3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61C88-8000-4D62-85CF-C286DA51345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3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168F33-B1EA-4A27-9E89-0BC71C5F1218}" type="slidenum">
              <a:rPr lang="ru-RU"/>
              <a:pPr/>
              <a:t>3</a:t>
            </a:fld>
            <a:endParaRPr lang="ru-RU"/>
          </a:p>
        </p:txBody>
      </p:sp>
      <p:sp>
        <p:nvSpPr>
          <p:cNvPr id="1904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D66722D-AA72-4FF8-8AE2-08DC6F2C8992}" type="slidenum">
              <a:rPr lang="ru-RU" sz="1200">
                <a:latin typeface="Arial" charset="0"/>
              </a:rPr>
              <a:pPr algn="r"/>
              <a:t>3</a:t>
            </a:fld>
            <a:endParaRPr lang="ru-RU" sz="1200">
              <a:latin typeface="Arial" charset="0"/>
            </a:endParaRPr>
          </a:p>
        </p:txBody>
      </p:sp>
      <p:sp>
        <p:nvSpPr>
          <p:cNvPr id="190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1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F1DCCB-4A58-48D2-8F8A-940065C32B3C}" type="slidenum">
              <a:rPr lang="ru-RU"/>
              <a:pPr/>
              <a:t>4</a:t>
            </a:fld>
            <a:endParaRPr lang="ru-RU"/>
          </a:p>
        </p:txBody>
      </p:sp>
      <p:sp>
        <p:nvSpPr>
          <p:cNvPr id="19149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2BFB33E-5EDF-4AFE-8E3A-7371FB304F71}" type="slidenum">
              <a:rPr lang="ru-RU" sz="1200">
                <a:latin typeface="Arial" charset="0"/>
              </a:rPr>
              <a:pPr algn="r"/>
              <a:t>4</a:t>
            </a:fld>
            <a:endParaRPr lang="ru-RU" sz="1200">
              <a:latin typeface="Arial" charset="0"/>
            </a:endParaRPr>
          </a:p>
        </p:txBody>
      </p:sp>
      <p:sp>
        <p:nvSpPr>
          <p:cNvPr id="191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1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2E81A8-5FA1-4FF4-9C4A-DD40CF6ADABD}" type="slidenum">
              <a:rPr lang="ru-RU"/>
              <a:pPr/>
              <a:t>5</a:t>
            </a:fld>
            <a:endParaRPr lang="ru-RU"/>
          </a:p>
        </p:txBody>
      </p:sp>
      <p:sp>
        <p:nvSpPr>
          <p:cNvPr id="1925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3AB65C4-52BE-4D40-8E4E-D3804F17ADED}" type="slidenum">
              <a:rPr lang="ru-RU" sz="1200">
                <a:latin typeface="Arial" charset="0"/>
              </a:rPr>
              <a:pPr algn="r"/>
              <a:t>5</a:t>
            </a:fld>
            <a:endParaRPr lang="ru-RU" sz="1200">
              <a:latin typeface="Arial" charset="0"/>
            </a:endParaRPr>
          </a:p>
        </p:txBody>
      </p:sp>
      <p:sp>
        <p:nvSpPr>
          <p:cNvPr id="192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99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DEDCBC-AC0B-4EC1-9A91-7D36C669176D}" type="slidenum">
              <a:rPr lang="ru-RU"/>
              <a:pPr/>
              <a:t>6</a:t>
            </a:fld>
            <a:endParaRPr lang="ru-RU"/>
          </a:p>
        </p:txBody>
      </p:sp>
      <p:sp>
        <p:nvSpPr>
          <p:cNvPr id="19353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515A691-BA58-4321-9198-58D1CC01C482}" type="slidenum">
              <a:rPr lang="ru-RU" sz="1200">
                <a:latin typeface="Arial" charset="0"/>
              </a:rPr>
              <a:pPr algn="r"/>
              <a:t>6</a:t>
            </a:fld>
            <a:endParaRPr lang="ru-RU" sz="1200">
              <a:latin typeface="Arial" charset="0"/>
            </a:endParaRPr>
          </a:p>
        </p:txBody>
      </p:sp>
      <p:sp>
        <p:nvSpPr>
          <p:cNvPr id="193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561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87697-8B79-4A57-ACE0-A359A23E4598}" type="slidenum">
              <a:rPr lang="ru-RU"/>
              <a:pPr/>
              <a:t>7</a:t>
            </a:fld>
            <a:endParaRPr lang="ru-RU"/>
          </a:p>
        </p:txBody>
      </p:sp>
      <p:sp>
        <p:nvSpPr>
          <p:cNvPr id="1945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3858922-59C8-4C49-90D3-A458A19FFAE6}" type="slidenum">
              <a:rPr lang="ru-RU" sz="1200">
                <a:latin typeface="Arial" charset="0"/>
              </a:rPr>
              <a:pPr algn="r"/>
              <a:t>7</a:t>
            </a:fld>
            <a:endParaRPr lang="ru-RU" sz="1200">
              <a:latin typeface="Arial" charset="0"/>
            </a:endParaRPr>
          </a:p>
        </p:txBody>
      </p:sp>
      <p:sp>
        <p:nvSpPr>
          <p:cNvPr id="194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260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03B898-A055-4C73-B104-98401DA7F584}" type="slidenum">
              <a:rPr lang="ru-RU"/>
              <a:pPr/>
              <a:t>8</a:t>
            </a:fld>
            <a:endParaRPr lang="ru-RU"/>
          </a:p>
        </p:txBody>
      </p:sp>
      <p:sp>
        <p:nvSpPr>
          <p:cNvPr id="19558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EC36C7C-5DCD-4CDB-B7A5-55A24AAC6F10}" type="slidenum">
              <a:rPr lang="ru-RU" sz="1200">
                <a:latin typeface="Arial" charset="0"/>
              </a:rPr>
              <a:pPr algn="r"/>
              <a:t>8</a:t>
            </a:fld>
            <a:endParaRPr lang="ru-RU" sz="1200">
              <a:latin typeface="Arial" charset="0"/>
            </a:endParaRPr>
          </a:p>
        </p:txBody>
      </p:sp>
      <p:sp>
        <p:nvSpPr>
          <p:cNvPr id="195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827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B29FE3-8770-468C-BE49-8B886352CEBC}" type="slidenum">
              <a:rPr lang="ru-RU"/>
              <a:pPr/>
              <a:t>9</a:t>
            </a:fld>
            <a:endParaRPr lang="ru-RU"/>
          </a:p>
        </p:txBody>
      </p:sp>
      <p:sp>
        <p:nvSpPr>
          <p:cNvPr id="19661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E9FF8FB-9912-42BE-BE17-7FD06755B1FA}" type="slidenum">
              <a:rPr lang="ru-RU" sz="1200">
                <a:latin typeface="Arial" charset="0"/>
              </a:rPr>
              <a:pPr algn="r"/>
              <a:t>9</a:t>
            </a:fld>
            <a:endParaRPr lang="ru-RU" sz="1200">
              <a:latin typeface="Arial" charset="0"/>
            </a:endParaRPr>
          </a:p>
        </p:txBody>
      </p:sp>
      <p:sp>
        <p:nvSpPr>
          <p:cNvPr id="1966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98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0C6F02-2706-4CE2-8678-5E3B00CCF143}" type="slidenum">
              <a:rPr lang="ru-RU"/>
              <a:pPr/>
              <a:t>10</a:t>
            </a:fld>
            <a:endParaRPr lang="ru-RU"/>
          </a:p>
        </p:txBody>
      </p:sp>
      <p:sp>
        <p:nvSpPr>
          <p:cNvPr id="19763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F4FEF34-37EA-4E05-8F47-C5177B863AA0}" type="slidenum">
              <a:rPr lang="ru-RU" sz="1200">
                <a:latin typeface="Arial" charset="0"/>
              </a:rPr>
              <a:pPr algn="r"/>
              <a:t>10</a:t>
            </a:fld>
            <a:endParaRPr lang="ru-RU" sz="1200">
              <a:latin typeface="Arial" charset="0"/>
            </a:endParaRPr>
          </a:p>
        </p:txBody>
      </p:sp>
      <p:sp>
        <p:nvSpPr>
          <p:cNvPr id="197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242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1192EA-A7E1-46B7-A69E-2666EA667524}" type="slidenum">
              <a:rPr lang="ru-RU"/>
              <a:pPr/>
              <a:t>11</a:t>
            </a:fld>
            <a:endParaRPr lang="ru-RU"/>
          </a:p>
        </p:txBody>
      </p:sp>
      <p:sp>
        <p:nvSpPr>
          <p:cNvPr id="1996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D192380-C171-4FDF-934A-DE1E93AD10C1}" type="slidenum">
              <a:rPr lang="ru-RU" sz="1200">
                <a:latin typeface="Arial" charset="0"/>
              </a:rPr>
              <a:pPr algn="r"/>
              <a:t>11</a:t>
            </a:fld>
            <a:endParaRPr lang="ru-RU" sz="1200">
              <a:latin typeface="Arial" charset="0"/>
            </a:endParaRPr>
          </a:p>
        </p:txBody>
      </p:sp>
      <p:sp>
        <p:nvSpPr>
          <p:cNvPr id="199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455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2EE24B-28A4-4295-A237-B00F5ECD1723}" type="slidenum">
              <a:rPr lang="ru-RU"/>
              <a:pPr/>
              <a:t>12</a:t>
            </a:fld>
            <a:endParaRPr lang="ru-RU"/>
          </a:p>
        </p:txBody>
      </p:sp>
      <p:sp>
        <p:nvSpPr>
          <p:cNvPr id="2007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28F0356-5ECD-4CFA-9D70-387F1515F6FC}" type="slidenum">
              <a:rPr lang="ru-RU" sz="1200">
                <a:latin typeface="Arial" charset="0"/>
              </a:rPr>
              <a:pPr algn="r"/>
              <a:t>12</a:t>
            </a:fld>
            <a:endParaRPr lang="ru-RU" sz="1200">
              <a:latin typeface="Arial" charset="0"/>
            </a:endParaRPr>
          </a:p>
        </p:txBody>
      </p:sp>
      <p:sp>
        <p:nvSpPr>
          <p:cNvPr id="200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ubtitle 2"/>
          <p:cNvSpPr>
            <a:spLocks noGrp="1"/>
          </p:cNvSpPr>
          <p:nvPr>
            <p:ph type="subTitle" idx="1"/>
          </p:nvPr>
        </p:nvSpPr>
        <p:spPr>
          <a:xfrm>
            <a:off x="5033963" y="2698750"/>
            <a:ext cx="3362325" cy="1460500"/>
          </a:xfrm>
        </p:spPr>
        <p:txBody>
          <a:bodyPr lIns="91431" tIns="45716" rIns="91431" bIns="45716"/>
          <a:lstStyle/>
          <a:p>
            <a:pPr>
              <a:defRPr/>
            </a:pPr>
            <a:endParaRPr>
              <a:latin typeface="Kolkheti Mtavruli"/>
            </a:endParaRPr>
          </a:p>
        </p:txBody>
      </p:sp>
      <p:pic>
        <p:nvPicPr>
          <p:cNvPr id="1945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377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1259632" y="1988840"/>
            <a:ext cx="6553200" cy="2774032"/>
          </a:xfrm>
        </p:spPr>
        <p:txBody>
          <a:bodyPr anchor="b">
            <a:normAutofit/>
          </a:bodyPr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ka-GE" sz="4000" b="1">
                <a:solidFill>
                  <a:srgbClr val="443329"/>
                </a:solidFill>
              </a:rPr>
              <a:t>ლექცია </a:t>
            </a:r>
            <a:r>
              <a:rPr lang="en-US" sz="4000" b="1">
                <a:solidFill>
                  <a:srgbClr val="443329"/>
                </a:solidFill>
              </a:rPr>
              <a:t>2</a:t>
            </a: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lang="ka-GE" sz="4000" b="1">
                <a:solidFill>
                  <a:srgbClr val="443329"/>
                </a:solidFill>
              </a:rPr>
              <a:t>მონაცემთა რელაციური ბაზები</a:t>
            </a:r>
            <a:endParaRPr lang="ru-RU" sz="4000" b="1">
              <a:solidFill>
                <a:srgbClr val="443329"/>
              </a:solidFill>
            </a:endParaRPr>
          </a:p>
          <a:p>
            <a:pPr marL="0" indent="0"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ru-RU" sz="4000" b="1">
              <a:solidFill>
                <a:srgbClr val="44332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1189AF04-9B68-4FFD-846C-3013C67B358F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3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89909" name="Freeform 117"/>
          <p:cNvSpPr>
            <a:spLocks/>
          </p:cNvSpPr>
          <p:nvPr/>
        </p:nvSpPr>
        <p:spPr bwMode="auto">
          <a:xfrm>
            <a:off x="6446838" y="2827338"/>
            <a:ext cx="2257425" cy="3392487"/>
          </a:xfrm>
          <a:custGeom>
            <a:avLst/>
            <a:gdLst>
              <a:gd name="T0" fmla="*/ 509588 w 1422"/>
              <a:gd name="T1" fmla="*/ 0 h 2137"/>
              <a:gd name="T2" fmla="*/ 217488 w 1422"/>
              <a:gd name="T3" fmla="*/ 95250 h 2137"/>
              <a:gd name="T4" fmla="*/ 57150 w 1422"/>
              <a:gd name="T5" fmla="*/ 293687 h 2137"/>
              <a:gd name="T6" fmla="*/ 85725 w 1422"/>
              <a:gd name="T7" fmla="*/ 981075 h 2137"/>
              <a:gd name="T8" fmla="*/ 576262 w 1422"/>
              <a:gd name="T9" fmla="*/ 1527174 h 2137"/>
              <a:gd name="T10" fmla="*/ 1349375 w 1422"/>
              <a:gd name="T11" fmla="*/ 1706562 h 2137"/>
              <a:gd name="T12" fmla="*/ 2112963 w 1422"/>
              <a:gd name="T13" fmla="*/ 2027237 h 2137"/>
              <a:gd name="T14" fmla="*/ 2216150 w 1422"/>
              <a:gd name="T15" fmla="*/ 3054349 h 2137"/>
              <a:gd name="T16" fmla="*/ 1914525 w 1422"/>
              <a:gd name="T17" fmla="*/ 3346450 h 2137"/>
              <a:gd name="T18" fmla="*/ 1593850 w 1422"/>
              <a:gd name="T19" fmla="*/ 3384550 h 2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422"/>
              <a:gd name="T31" fmla="*/ 0 h 2137"/>
              <a:gd name="T32" fmla="*/ 1422 w 1422"/>
              <a:gd name="T33" fmla="*/ 2137 h 2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422" h="2137">
                <a:moveTo>
                  <a:pt x="321" y="0"/>
                </a:moveTo>
                <a:cubicBezTo>
                  <a:pt x="250" y="14"/>
                  <a:pt x="184" y="29"/>
                  <a:pt x="137" y="60"/>
                </a:cubicBezTo>
                <a:cubicBezTo>
                  <a:pt x="90" y="91"/>
                  <a:pt x="50" y="92"/>
                  <a:pt x="36" y="185"/>
                </a:cubicBezTo>
                <a:cubicBezTo>
                  <a:pt x="22" y="278"/>
                  <a:pt x="0" y="489"/>
                  <a:pt x="54" y="618"/>
                </a:cubicBezTo>
                <a:cubicBezTo>
                  <a:pt x="108" y="747"/>
                  <a:pt x="230" y="886"/>
                  <a:pt x="363" y="962"/>
                </a:cubicBezTo>
                <a:cubicBezTo>
                  <a:pt x="496" y="1038"/>
                  <a:pt x="684" y="1046"/>
                  <a:pt x="850" y="1075"/>
                </a:cubicBezTo>
                <a:cubicBezTo>
                  <a:pt x="1016" y="1104"/>
                  <a:pt x="1240" y="1136"/>
                  <a:pt x="1331" y="1277"/>
                </a:cubicBezTo>
                <a:cubicBezTo>
                  <a:pt x="1422" y="1418"/>
                  <a:pt x="1417" y="1786"/>
                  <a:pt x="1396" y="1924"/>
                </a:cubicBezTo>
                <a:cubicBezTo>
                  <a:pt x="1375" y="2062"/>
                  <a:pt x="1289" y="2085"/>
                  <a:pt x="1206" y="2108"/>
                </a:cubicBezTo>
                <a:cubicBezTo>
                  <a:pt x="1123" y="2131"/>
                  <a:pt x="1072" y="2137"/>
                  <a:pt x="1004" y="213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19460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რელაციური მონაცემთა ბაზები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89796" name="Rectangle 4"/>
          <p:cNvSpPr>
            <a:spLocks noChangeArrowheads="1"/>
          </p:cNvSpPr>
          <p:nvPr/>
        </p:nvSpPr>
        <p:spPr bwMode="auto">
          <a:xfrm>
            <a:off x="293688" y="879475"/>
            <a:ext cx="8480425" cy="1477963"/>
          </a:xfrm>
          <a:prstGeom prst="rect">
            <a:avLst/>
          </a:prstGeom>
          <a:noFill/>
          <a:ln w="127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263525" indent="-263525" algn="just"/>
            <a:r>
              <a:rPr lang="ru-RU" sz="2000" b="1">
                <a:solidFill>
                  <a:srgbClr val="FF0000"/>
                </a:solidFill>
                <a:latin typeface="Arial" charset="0"/>
              </a:rPr>
              <a:t>1970-</a:t>
            </a:r>
            <a:r>
              <a:rPr lang="ka-GE" sz="2000" b="1">
                <a:solidFill>
                  <a:srgbClr val="FF0000"/>
                </a:solidFill>
                <a:latin typeface="Arial" charset="0"/>
              </a:rPr>
              <a:t>იანი წწ</a:t>
            </a:r>
            <a:r>
              <a:rPr lang="ru-RU" sz="2000">
                <a:solidFill>
                  <a:srgbClr val="FF0000"/>
                </a:solidFill>
                <a:latin typeface="Arial" charset="0"/>
              </a:rPr>
              <a:t>.</a:t>
            </a:r>
            <a:r>
              <a:rPr lang="ru-RU" sz="2000">
                <a:latin typeface="Arial" charset="0"/>
              </a:rPr>
              <a:t> </a:t>
            </a:r>
            <a:r>
              <a:rPr lang="ka-GE" sz="2000">
                <a:latin typeface="Arial" charset="0"/>
              </a:rPr>
              <a:t>ე. კოდდი</a:t>
            </a:r>
            <a:r>
              <a:rPr lang="ru-RU" sz="2000">
                <a:latin typeface="Arial" charset="0"/>
              </a:rPr>
              <a:t>, </a:t>
            </a:r>
            <a:r>
              <a:rPr lang="ka-GE" sz="2000">
                <a:latin typeface="Arial" charset="0"/>
              </a:rPr>
              <a:t>ინგლისურიდან</a:t>
            </a:r>
            <a:r>
              <a:rPr lang="ru-RU" sz="2000">
                <a:latin typeface="Arial" charset="0"/>
              </a:rPr>
              <a:t>. </a:t>
            </a:r>
            <a:r>
              <a:rPr lang="en-US" sz="2000" i="1">
                <a:latin typeface="Arial" charset="0"/>
              </a:rPr>
              <a:t>relation – </a:t>
            </a:r>
            <a:r>
              <a:rPr lang="ka-GE" sz="2000" i="1">
                <a:latin typeface="Arial" charset="0"/>
              </a:rPr>
              <a:t>კავშირები</a:t>
            </a:r>
            <a:r>
              <a:rPr lang="ru-RU" sz="2400">
                <a:latin typeface="Arial" charset="0"/>
              </a:rPr>
              <a:t>.</a:t>
            </a:r>
            <a:endParaRPr lang="en-US" sz="2800" b="1" i="1">
              <a:solidFill>
                <a:schemeClr val="accent2"/>
              </a:solidFill>
              <a:latin typeface="Arial" charset="0"/>
            </a:endParaRPr>
          </a:p>
          <a:p>
            <a:pPr marL="263525" indent="-263525" algn="just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რელაციური მონაცემთა ბაზა</a:t>
            </a:r>
            <a:r>
              <a:rPr lang="ru-RU" sz="2000">
                <a:latin typeface="Arial" charset="0"/>
              </a:rPr>
              <a:t> – </a:t>
            </a:r>
            <a:r>
              <a:rPr lang="ka-GE" sz="2000">
                <a:latin typeface="Arial" charset="0"/>
              </a:rPr>
              <a:t>ეს არის მარტივი ცხრილების ერთობლიობა, რომლებიც ერთმანეთს რიცხვითი კოდების საშუალებით არიან დაკავშირებულნი.</a:t>
            </a:r>
            <a:endParaRPr lang="ru-RU" sz="2000">
              <a:latin typeface="Arial" charset="0"/>
            </a:endParaRPr>
          </a:p>
          <a:p>
            <a:pPr marL="263525" indent="-263525" algn="just"/>
            <a:endParaRPr lang="ru-RU" sz="2000">
              <a:latin typeface="Arial" charset="0"/>
            </a:endParaRPr>
          </a:p>
        </p:txBody>
      </p:sp>
      <p:pic>
        <p:nvPicPr>
          <p:cNvPr id="28979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0" y="2841625"/>
            <a:ext cx="220663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9923" name="Group 131"/>
          <p:cNvGraphicFramePr>
            <a:graphicFrameLocks noGrp="1"/>
          </p:cNvGraphicFramePr>
          <p:nvPr/>
        </p:nvGraphicFramePr>
        <p:xfrm>
          <a:off x="1052513" y="2565400"/>
          <a:ext cx="1241425" cy="2042160"/>
        </p:xfrm>
        <a:graphic>
          <a:graphicData uri="http://schemas.openxmlformats.org/drawingml/2006/table">
            <a:tbl>
              <a:tblPr/>
              <a:tblGrid>
                <a:gridCol w="124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გამყიდველები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მისამართი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ტელეფონი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საიტი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9943" name="Group 151"/>
          <p:cNvGraphicFramePr>
            <a:graphicFrameLocks noGrp="1"/>
          </p:cNvGraphicFramePr>
          <p:nvPr/>
        </p:nvGraphicFramePr>
        <p:xfrm>
          <a:off x="6972300" y="2376488"/>
          <a:ext cx="1552575" cy="152400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მწარმოებელი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ქვეყანა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საიტი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9950" name="Group 158"/>
          <p:cNvGraphicFramePr>
            <a:graphicFrameLocks noGrp="1"/>
          </p:cNvGraphicFramePr>
          <p:nvPr/>
        </p:nvGraphicFramePr>
        <p:xfrm>
          <a:off x="6365875" y="5129213"/>
          <a:ext cx="1676400" cy="143256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მოდელები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მწარმოებლის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9927" name="Group 135"/>
          <p:cNvGraphicFramePr>
            <a:graphicFrameLocks noGrp="1"/>
          </p:cNvGraphicFramePr>
          <p:nvPr/>
        </p:nvGraphicFramePr>
        <p:xfrm>
          <a:off x="1389063" y="5213350"/>
          <a:ext cx="1177925" cy="914400"/>
        </p:xfrm>
        <a:graphic>
          <a:graphicData uri="http://schemas.openxmlformats.org/drawingml/2006/table">
            <a:tbl>
              <a:tblPr/>
              <a:tblGrid>
                <a:gridCol w="11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9939" name="Group 147"/>
          <p:cNvGraphicFramePr>
            <a:graphicFrameLocks noGrp="1"/>
          </p:cNvGraphicFramePr>
          <p:nvPr/>
        </p:nvGraphicFramePr>
        <p:xfrm>
          <a:off x="3671888" y="2762250"/>
          <a:ext cx="2127250" cy="2133600"/>
        </p:xfrm>
        <a:graphic>
          <a:graphicData uri="http://schemas.openxmlformats.org/drawingml/2006/table">
            <a:tbl>
              <a:tblPr/>
              <a:tblGrid>
                <a:gridCol w="21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პრაის-ლისტი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ჩანაწერის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გამყიდველის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მწარმოებლის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საქონლის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მოდელის კოდი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ფასი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89899" name="Picture 1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238" y="5481638"/>
            <a:ext cx="22066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9900" name="Picture 10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0588" y="3030538"/>
            <a:ext cx="22066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9905" name="Freeform 113"/>
          <p:cNvSpPr>
            <a:spLocks/>
          </p:cNvSpPr>
          <p:nvPr/>
        </p:nvSpPr>
        <p:spPr bwMode="auto">
          <a:xfrm>
            <a:off x="2290763" y="2854325"/>
            <a:ext cx="1376362" cy="703263"/>
          </a:xfrm>
          <a:custGeom>
            <a:avLst/>
            <a:gdLst>
              <a:gd name="T0" fmla="*/ 0 w 867"/>
              <a:gd name="T1" fmla="*/ 190500 h 443"/>
              <a:gd name="T2" fmla="*/ 565150 w 867"/>
              <a:gd name="T3" fmla="*/ 68263 h 443"/>
              <a:gd name="T4" fmla="*/ 885825 w 867"/>
              <a:gd name="T5" fmla="*/ 604838 h 443"/>
              <a:gd name="T6" fmla="*/ 1376362 w 867"/>
              <a:gd name="T7" fmla="*/ 661988 h 443"/>
              <a:gd name="T8" fmla="*/ 0 60000 65536"/>
              <a:gd name="T9" fmla="*/ 0 60000 65536"/>
              <a:gd name="T10" fmla="*/ 0 60000 65536"/>
              <a:gd name="T11" fmla="*/ 0 60000 65536"/>
              <a:gd name="T12" fmla="*/ 0 w 867"/>
              <a:gd name="T13" fmla="*/ 0 h 443"/>
              <a:gd name="T14" fmla="*/ 867 w 867"/>
              <a:gd name="T15" fmla="*/ 443 h 4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7" h="443">
                <a:moveTo>
                  <a:pt x="0" y="120"/>
                </a:moveTo>
                <a:cubicBezTo>
                  <a:pt x="126" y="71"/>
                  <a:pt x="263" y="0"/>
                  <a:pt x="356" y="43"/>
                </a:cubicBezTo>
                <a:cubicBezTo>
                  <a:pt x="449" y="86"/>
                  <a:pt x="473" y="319"/>
                  <a:pt x="558" y="381"/>
                </a:cubicBezTo>
                <a:cubicBezTo>
                  <a:pt x="643" y="443"/>
                  <a:pt x="803" y="410"/>
                  <a:pt x="867" y="417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9906" name="Freeform 114"/>
          <p:cNvSpPr>
            <a:spLocks/>
          </p:cNvSpPr>
          <p:nvPr/>
        </p:nvSpPr>
        <p:spPr bwMode="auto">
          <a:xfrm>
            <a:off x="2554288" y="4005263"/>
            <a:ext cx="1122362" cy="1670050"/>
          </a:xfrm>
          <a:custGeom>
            <a:avLst/>
            <a:gdLst>
              <a:gd name="T0" fmla="*/ 0 w 707"/>
              <a:gd name="T1" fmla="*/ 1670050 h 1052"/>
              <a:gd name="T2" fmla="*/ 471487 w 707"/>
              <a:gd name="T3" fmla="*/ 1339850 h 1052"/>
              <a:gd name="T4" fmla="*/ 669925 w 707"/>
              <a:gd name="T5" fmla="*/ 207963 h 1052"/>
              <a:gd name="T6" fmla="*/ 1122362 w 707"/>
              <a:gd name="T7" fmla="*/ 95250 h 1052"/>
              <a:gd name="T8" fmla="*/ 0 60000 65536"/>
              <a:gd name="T9" fmla="*/ 0 60000 65536"/>
              <a:gd name="T10" fmla="*/ 0 60000 65536"/>
              <a:gd name="T11" fmla="*/ 0 60000 65536"/>
              <a:gd name="T12" fmla="*/ 0 w 707"/>
              <a:gd name="T13" fmla="*/ 0 h 1052"/>
              <a:gd name="T14" fmla="*/ 707 w 707"/>
              <a:gd name="T15" fmla="*/ 1052 h 10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7" h="1052">
                <a:moveTo>
                  <a:pt x="0" y="1052"/>
                </a:moveTo>
                <a:cubicBezTo>
                  <a:pt x="113" y="1026"/>
                  <a:pt x="227" y="997"/>
                  <a:pt x="297" y="844"/>
                </a:cubicBezTo>
                <a:cubicBezTo>
                  <a:pt x="367" y="691"/>
                  <a:pt x="354" y="262"/>
                  <a:pt x="422" y="131"/>
                </a:cubicBezTo>
                <a:cubicBezTo>
                  <a:pt x="490" y="0"/>
                  <a:pt x="648" y="75"/>
                  <a:pt x="707" y="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9907" name="Freeform 115"/>
          <p:cNvSpPr>
            <a:spLocks/>
          </p:cNvSpPr>
          <p:nvPr/>
        </p:nvSpPr>
        <p:spPr bwMode="auto">
          <a:xfrm>
            <a:off x="5797550" y="2789238"/>
            <a:ext cx="1158875" cy="1128712"/>
          </a:xfrm>
          <a:custGeom>
            <a:avLst/>
            <a:gdLst>
              <a:gd name="T0" fmla="*/ 1158875 w 730"/>
              <a:gd name="T1" fmla="*/ 57150 h 711"/>
              <a:gd name="T2" fmla="*/ 641350 w 730"/>
              <a:gd name="T3" fmla="*/ 152400 h 711"/>
              <a:gd name="T4" fmla="*/ 385762 w 730"/>
              <a:gd name="T5" fmla="*/ 971550 h 711"/>
              <a:gd name="T6" fmla="*/ 0 w 730"/>
              <a:gd name="T7" fmla="*/ 1095375 h 711"/>
              <a:gd name="T8" fmla="*/ 0 60000 65536"/>
              <a:gd name="T9" fmla="*/ 0 60000 65536"/>
              <a:gd name="T10" fmla="*/ 0 60000 65536"/>
              <a:gd name="T11" fmla="*/ 0 60000 65536"/>
              <a:gd name="T12" fmla="*/ 0 w 730"/>
              <a:gd name="T13" fmla="*/ 0 h 711"/>
              <a:gd name="T14" fmla="*/ 730 w 730"/>
              <a:gd name="T15" fmla="*/ 711 h 7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0" h="711">
                <a:moveTo>
                  <a:pt x="730" y="36"/>
                </a:moveTo>
                <a:cubicBezTo>
                  <a:pt x="607" y="18"/>
                  <a:pt x="485" y="0"/>
                  <a:pt x="404" y="96"/>
                </a:cubicBezTo>
                <a:cubicBezTo>
                  <a:pt x="323" y="192"/>
                  <a:pt x="310" y="513"/>
                  <a:pt x="243" y="612"/>
                </a:cubicBezTo>
                <a:cubicBezTo>
                  <a:pt x="176" y="711"/>
                  <a:pt x="88" y="700"/>
                  <a:pt x="0" y="69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9908" name="Freeform 116"/>
          <p:cNvSpPr>
            <a:spLocks/>
          </p:cNvSpPr>
          <p:nvPr/>
        </p:nvSpPr>
        <p:spPr bwMode="auto">
          <a:xfrm>
            <a:off x="5797550" y="4421188"/>
            <a:ext cx="584200" cy="1268412"/>
          </a:xfrm>
          <a:custGeom>
            <a:avLst/>
            <a:gdLst>
              <a:gd name="T0" fmla="*/ 0 w 368"/>
              <a:gd name="T1" fmla="*/ 19050 h 799"/>
              <a:gd name="T2" fmla="*/ 217488 w 368"/>
              <a:gd name="T3" fmla="*/ 179387 h 799"/>
              <a:gd name="T4" fmla="*/ 404812 w 368"/>
              <a:gd name="T5" fmla="*/ 1093787 h 799"/>
              <a:gd name="T6" fmla="*/ 584200 w 368"/>
              <a:gd name="T7" fmla="*/ 1225550 h 799"/>
              <a:gd name="T8" fmla="*/ 0 60000 65536"/>
              <a:gd name="T9" fmla="*/ 0 60000 65536"/>
              <a:gd name="T10" fmla="*/ 0 60000 65536"/>
              <a:gd name="T11" fmla="*/ 0 60000 65536"/>
              <a:gd name="T12" fmla="*/ 0 w 368"/>
              <a:gd name="T13" fmla="*/ 0 h 799"/>
              <a:gd name="T14" fmla="*/ 368 w 368"/>
              <a:gd name="T15" fmla="*/ 799 h 79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8" h="799">
                <a:moveTo>
                  <a:pt x="0" y="12"/>
                </a:moveTo>
                <a:cubicBezTo>
                  <a:pt x="52" y="3"/>
                  <a:pt x="94" y="0"/>
                  <a:pt x="137" y="113"/>
                </a:cubicBezTo>
                <a:cubicBezTo>
                  <a:pt x="180" y="226"/>
                  <a:pt x="216" y="579"/>
                  <a:pt x="255" y="689"/>
                </a:cubicBezTo>
                <a:cubicBezTo>
                  <a:pt x="294" y="799"/>
                  <a:pt x="344" y="755"/>
                  <a:pt x="368" y="7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pic>
        <p:nvPicPr>
          <p:cNvPr id="289901" name="Picture 1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0363" y="2662238"/>
            <a:ext cx="22066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9902" name="Picture 1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7725" y="5424488"/>
            <a:ext cx="220663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9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8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8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8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8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8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8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8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909" grpId="0" animBg="1"/>
      <p:bldP spid="289796" grpId="0" build="p" autoUpdateAnimBg="0"/>
      <p:bldP spid="289905" grpId="0" animBg="1"/>
      <p:bldP spid="289906" grpId="0" animBg="1"/>
      <p:bldP spid="289907" grpId="0" animBg="1"/>
      <p:bldP spid="28990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A76F851A-CAD4-4E4D-ACAC-FFE58749D58D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4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048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რელაციური მონაცემთა ბაზები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auto">
          <a:xfrm>
            <a:off x="974725" y="950913"/>
            <a:ext cx="7685088" cy="30480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არ ხდება ინფორმაციის დუბლირება</a:t>
            </a:r>
            <a:r>
              <a:rPr lang="ru-RU" sz="2000">
                <a:latin typeface="Arial" charset="0"/>
              </a:rPr>
              <a:t>; 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ფირმის მისამართის შეცვლისას, საკმარისია მისი შეცვლა მხოლოდ ცხრილში </a:t>
            </a:r>
            <a:r>
              <a:rPr lang="ka-GE" sz="2000" b="1">
                <a:latin typeface="Arial" charset="0"/>
              </a:rPr>
              <a:t>გამყიდველები</a:t>
            </a:r>
            <a:r>
              <a:rPr lang="ru-RU" sz="2000">
                <a:latin typeface="Arial" charset="0"/>
              </a:rPr>
              <a:t>;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გათვალისწინებულია არასწორი შეტანისაგან დაცვა: შესაძლებელია ფირმის იმ დასახელების არჩევა, რომელიც წინასწარ არის  შეტანილი ცხრილში </a:t>
            </a:r>
            <a:r>
              <a:rPr lang="ka-GE" sz="2000" b="1">
                <a:latin typeface="Arial" charset="0"/>
              </a:rPr>
              <a:t>გამყიდველები</a:t>
            </a:r>
            <a:r>
              <a:rPr lang="ka-GE" sz="2000">
                <a:latin typeface="Arial" charset="0"/>
              </a:rPr>
              <a:t>;</a:t>
            </a:r>
            <a:r>
              <a:rPr lang="ru-RU" sz="2000">
                <a:latin typeface="Arial" charset="0"/>
              </a:rPr>
              <a:t> 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ტრანზაქციის მექანიზმი</a:t>
            </a:r>
            <a:r>
              <a:rPr lang="ru-RU" sz="2000">
                <a:latin typeface="Arial" charset="0"/>
              </a:rPr>
              <a:t>:</a:t>
            </a:r>
            <a:r>
              <a:rPr lang="ka-GE" sz="2000">
                <a:latin typeface="Arial" charset="0"/>
              </a:rPr>
              <a:t>  ბაზაში ნებისმიერი ცვლილება    ხდება მხოლოდ მაშინ, როდესაც ისინი მთლიანად დასრულებულია</a:t>
            </a:r>
            <a:r>
              <a:rPr lang="ka-GE" sz="2200">
                <a:latin typeface="Arial" charset="0"/>
              </a:rPr>
              <a:t>.</a:t>
            </a:r>
            <a:endParaRPr lang="ru-RU" sz="2200">
              <a:latin typeface="Arial" charset="0"/>
            </a:endParaRP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 bwMode="auto">
          <a:xfrm>
            <a:off x="427038" y="982663"/>
            <a:ext cx="385762" cy="385762"/>
            <a:chOff x="2816" y="2458"/>
            <a:chExt cx="1728" cy="1728"/>
          </a:xfrm>
        </p:grpSpPr>
        <p:sp>
          <p:nvSpPr>
            <p:cNvPr id="20491" name="Oval 6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3" name="Group 7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20494" name="Rectangle 8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20495" name="Rectangle 9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20493" name="Freeform 10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11"/>
          <p:cNvGrpSpPr>
            <a:grpSpLocks noChangeAspect="1"/>
          </p:cNvGrpSpPr>
          <p:nvPr/>
        </p:nvGrpSpPr>
        <p:grpSpPr bwMode="auto">
          <a:xfrm>
            <a:off x="539750" y="4027488"/>
            <a:ext cx="395288" cy="395287"/>
            <a:chOff x="552" y="2523"/>
            <a:chExt cx="1728" cy="1728"/>
          </a:xfrm>
        </p:grpSpPr>
        <p:sp>
          <p:nvSpPr>
            <p:cNvPr id="20489" name="Oval 12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0490" name="Rectangle 13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91854" name="Rectangle 14"/>
          <p:cNvSpPr>
            <a:spLocks noChangeArrowheads="1"/>
          </p:cNvSpPr>
          <p:nvPr/>
        </p:nvSpPr>
        <p:spPr bwMode="auto">
          <a:xfrm>
            <a:off x="1011238" y="4043363"/>
            <a:ext cx="7658100" cy="26384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სტრუქტურის სირთულე</a:t>
            </a:r>
            <a:r>
              <a:rPr lang="ru-RU" sz="2000">
                <a:latin typeface="Arial" charset="0"/>
              </a:rPr>
              <a:t> (</a:t>
            </a:r>
            <a:r>
              <a:rPr lang="ka-GE" sz="2000">
                <a:latin typeface="Arial" charset="0"/>
              </a:rPr>
              <a:t>არა უმეტეს 40-50 ცხრილისა</a:t>
            </a:r>
            <a:r>
              <a:rPr lang="ru-RU" sz="2000">
                <a:latin typeface="Arial" charset="0"/>
              </a:rPr>
              <a:t>); 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ინფორმაციის მოძებნისას საჭიროა რამოდენიმე ცხრილისათვის ერთდროული მიმართვა</a:t>
            </a:r>
            <a:r>
              <a:rPr lang="ru-RU" sz="2000">
                <a:latin typeface="Arial" charset="0"/>
              </a:rPr>
              <a:t>;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საჭიროა მთლიანობის დაცვა</a:t>
            </a:r>
            <a:r>
              <a:rPr lang="ru-RU" sz="2000">
                <a:latin typeface="Arial" charset="0"/>
              </a:rPr>
              <a:t>:</a:t>
            </a:r>
            <a:r>
              <a:rPr lang="ka-GE" sz="2000">
                <a:latin typeface="Arial" charset="0"/>
              </a:rPr>
              <a:t> </a:t>
            </a:r>
            <a:r>
              <a:rPr lang="ka-GE" sz="2000" b="1">
                <a:latin typeface="Arial" charset="0"/>
              </a:rPr>
              <a:t>გამყიდველი</a:t>
            </a:r>
            <a:r>
              <a:rPr lang="ka-GE" sz="2000">
                <a:latin typeface="Arial" charset="0"/>
              </a:rPr>
              <a:t> ფირმის წაშლისას, საჭიროა ყველა ცხრილიდან ყველა დაკავშირებული ჩანაწერების წაშლა</a:t>
            </a:r>
            <a:r>
              <a:rPr lang="ru-RU" sz="2000">
                <a:latin typeface="Arial" charset="0"/>
              </a:rPr>
              <a:t> (</a:t>
            </a:r>
            <a:r>
              <a:rPr lang="ka-GE" sz="2000">
                <a:latin typeface="Arial" charset="0"/>
              </a:rPr>
              <a:t>მბმს-ებში ეს ავტომატიურად ხდება კასკადური წაშლის მექანიზმის გამოყენებით)</a:t>
            </a:r>
            <a:r>
              <a:rPr lang="ru-RU" sz="2200">
                <a:latin typeface="Arial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1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1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1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91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91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91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 build="p"/>
      <p:bldP spid="29185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9191F75F-AE5C-4930-8092-ED097206CA72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5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1507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კავშირები ცხრილებს შორის</a:t>
            </a:r>
            <a:endParaRPr lang="ru-RU" sz="3000" b="1">
              <a:latin typeface="Arial" charset="0"/>
            </a:endParaRPr>
          </a:p>
        </p:txBody>
      </p:sp>
      <p:sp>
        <p:nvSpPr>
          <p:cNvPr id="293892" name="Rectangle 4"/>
          <p:cNvSpPr>
            <a:spLocks noChangeArrowheads="1"/>
          </p:cNvSpPr>
          <p:nvPr/>
        </p:nvSpPr>
        <p:spPr bwMode="auto">
          <a:xfrm>
            <a:off x="384175" y="881063"/>
            <a:ext cx="8480425" cy="1208087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ერთი-ერთთან 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(«1-1»)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</a:t>
            </a:r>
            <a:r>
              <a:rPr lang="ka-GE" sz="2000">
                <a:latin typeface="Arial" charset="0"/>
              </a:rPr>
              <a:t>ერთ ჩანაწერს პირველი ცხრილიდან შეესაბამება ზუსტად ერთი ჩანაწერი მეორე ცხრილიდან</a:t>
            </a:r>
            <a:r>
              <a:rPr lang="ru-RU" sz="2000">
                <a:latin typeface="Arial" charset="0"/>
              </a:rPr>
              <a:t>.</a:t>
            </a:r>
            <a:br>
              <a:rPr lang="ru-RU" sz="2000">
                <a:latin typeface="Arial" charset="0"/>
              </a:rPr>
            </a:br>
            <a:r>
              <a:rPr lang="ka-GE" sz="2000" b="1">
                <a:latin typeface="Arial" charset="0"/>
              </a:rPr>
              <a:t>გამოყენება</a:t>
            </a:r>
            <a:r>
              <a:rPr lang="ru-RU" sz="2000">
                <a:latin typeface="Arial" charset="0"/>
              </a:rPr>
              <a:t>: </a:t>
            </a:r>
            <a:r>
              <a:rPr lang="ka-GE" sz="2000">
                <a:latin typeface="Arial" charset="0"/>
              </a:rPr>
              <a:t>ხშირად გამოყენებადი მონაცემების გამოყოფა</a:t>
            </a:r>
            <a:r>
              <a:rPr lang="ru-RU" sz="2000">
                <a:latin typeface="Arial" charset="0"/>
              </a:rPr>
              <a:t>.</a:t>
            </a:r>
          </a:p>
        </p:txBody>
      </p:sp>
      <p:graphicFrame>
        <p:nvGraphicFramePr>
          <p:cNvPr id="294146" name="Group 258"/>
          <p:cNvGraphicFramePr>
            <a:graphicFrameLocks noGrp="1"/>
          </p:cNvGraphicFramePr>
          <p:nvPr/>
        </p:nvGraphicFramePr>
        <p:xfrm>
          <a:off x="538163" y="2239963"/>
          <a:ext cx="2797175" cy="121920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სახელი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გაბუნია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ივანე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ესაძე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მიხეილ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4142" name="Group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86777"/>
              </p:ext>
            </p:extLst>
          </p:nvPr>
        </p:nvGraphicFramePr>
        <p:xfrm>
          <a:off x="3827463" y="2238375"/>
          <a:ext cx="5011737" cy="1219200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დაბადების წ.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მისამართი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დავითაშვილის ქ.4, ბინა89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1993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აღმაშენებლის გამზ.56, ბინა35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4051" name="Freeform 163"/>
          <p:cNvSpPr>
            <a:spLocks/>
          </p:cNvSpPr>
          <p:nvPr/>
        </p:nvSpPr>
        <p:spPr bwMode="auto">
          <a:xfrm>
            <a:off x="701675" y="1920875"/>
            <a:ext cx="3543300" cy="323850"/>
          </a:xfrm>
          <a:custGeom>
            <a:avLst/>
            <a:gdLst>
              <a:gd name="T0" fmla="*/ 106363 w 2232"/>
              <a:gd name="T1" fmla="*/ 323850 h 204"/>
              <a:gd name="T2" fmla="*/ 490537 w 2232"/>
              <a:gd name="T3" fmla="*/ 44450 h 204"/>
              <a:gd name="T4" fmla="*/ 3052762 w 2232"/>
              <a:gd name="T5" fmla="*/ 53975 h 204"/>
              <a:gd name="T6" fmla="*/ 3433763 w 2232"/>
              <a:gd name="T7" fmla="*/ 323850 h 204"/>
              <a:gd name="T8" fmla="*/ 0 60000 65536"/>
              <a:gd name="T9" fmla="*/ 0 60000 65536"/>
              <a:gd name="T10" fmla="*/ 0 60000 65536"/>
              <a:gd name="T11" fmla="*/ 0 60000 65536"/>
              <a:gd name="T12" fmla="*/ 0 w 2232"/>
              <a:gd name="T13" fmla="*/ 0 h 204"/>
              <a:gd name="T14" fmla="*/ 2232 w 2232"/>
              <a:gd name="T15" fmla="*/ 204 h 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32" h="204">
                <a:moveTo>
                  <a:pt x="67" y="204"/>
                </a:moveTo>
                <a:cubicBezTo>
                  <a:pt x="107" y="175"/>
                  <a:pt x="0" y="56"/>
                  <a:pt x="309" y="28"/>
                </a:cubicBezTo>
                <a:cubicBezTo>
                  <a:pt x="618" y="0"/>
                  <a:pt x="1614" y="5"/>
                  <a:pt x="1923" y="34"/>
                </a:cubicBezTo>
                <a:cubicBezTo>
                  <a:pt x="2232" y="63"/>
                  <a:pt x="2113" y="169"/>
                  <a:pt x="2163" y="20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94052" name="Rectangle 164"/>
          <p:cNvSpPr>
            <a:spLocks noChangeArrowheads="1"/>
          </p:cNvSpPr>
          <p:nvPr/>
        </p:nvSpPr>
        <p:spPr bwMode="auto">
          <a:xfrm>
            <a:off x="488950" y="1917700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  <p:sp>
        <p:nvSpPr>
          <p:cNvPr id="294053" name="Rectangle 165"/>
          <p:cNvSpPr>
            <a:spLocks noChangeArrowheads="1"/>
          </p:cNvSpPr>
          <p:nvPr/>
        </p:nvSpPr>
        <p:spPr bwMode="auto">
          <a:xfrm>
            <a:off x="4095750" y="1924050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  <p:sp>
        <p:nvSpPr>
          <p:cNvPr id="294054" name="Rectangle 166"/>
          <p:cNvSpPr>
            <a:spLocks noChangeArrowheads="1"/>
          </p:cNvSpPr>
          <p:nvPr/>
        </p:nvSpPr>
        <p:spPr bwMode="auto">
          <a:xfrm>
            <a:off x="346075" y="3614738"/>
            <a:ext cx="8480425" cy="7366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ერთი-მრავალთან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(«1- </a:t>
            </a:r>
            <a:r>
              <a:rPr lang="ru-RU" sz="2400" b="1">
                <a:solidFill>
                  <a:srgbClr val="FF0000"/>
                </a:solidFill>
                <a:latin typeface="Arial" charset="0"/>
                <a:sym typeface="Symbol" pitchFamily="18" charset="2"/>
              </a:rPr>
              <a:t>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»)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</a:t>
            </a:r>
            <a:r>
              <a:rPr lang="ka-GE" sz="2000">
                <a:latin typeface="Arial" charset="0"/>
              </a:rPr>
              <a:t>ერთ ჩანაწერს პირველი ცხრილიდან, შეესაბამება მრავალი ჩანაწერი მეორე ცხრილიდან.</a:t>
            </a:r>
            <a:endParaRPr lang="ru-RU" sz="2000">
              <a:latin typeface="Arial" charset="0"/>
            </a:endParaRPr>
          </a:p>
        </p:txBody>
      </p:sp>
      <p:graphicFrame>
        <p:nvGraphicFramePr>
          <p:cNvPr id="294161" name="Group 273"/>
          <p:cNvGraphicFramePr>
            <a:graphicFrameLocks noGrp="1"/>
          </p:cNvGraphicFramePr>
          <p:nvPr/>
        </p:nvGraphicFramePr>
        <p:xfrm>
          <a:off x="1489075" y="4849813"/>
          <a:ext cx="2130425" cy="1219200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ვინჩესტერი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4160" name="Group 272"/>
          <p:cNvGraphicFramePr>
            <a:graphicFrameLocks noGrp="1"/>
          </p:cNvGraphicFramePr>
          <p:nvPr/>
        </p:nvGraphicFramePr>
        <p:xfrm>
          <a:off x="4694238" y="4849813"/>
          <a:ext cx="2709862" cy="1462723"/>
        </p:xfrm>
        <a:graphic>
          <a:graphicData uri="http://schemas.openxmlformats.org/drawingml/2006/table">
            <a:tbl>
              <a:tblPr/>
              <a:tblGrid>
                <a:gridCol w="842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საქონლის 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ფასი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10 999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11 999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4117" name="Freeform 229"/>
          <p:cNvSpPr>
            <a:spLocks/>
          </p:cNvSpPr>
          <p:nvPr/>
        </p:nvSpPr>
        <p:spPr bwMode="auto">
          <a:xfrm>
            <a:off x="1738313" y="4559300"/>
            <a:ext cx="4281487" cy="293688"/>
          </a:xfrm>
          <a:custGeom>
            <a:avLst/>
            <a:gdLst>
              <a:gd name="T0" fmla="*/ 19050 w 2697"/>
              <a:gd name="T1" fmla="*/ 293688 h 244"/>
              <a:gd name="T2" fmla="*/ 19050 w 2697"/>
              <a:gd name="T3" fmla="*/ 196193 h 244"/>
              <a:gd name="T4" fmla="*/ 147637 w 2697"/>
              <a:gd name="T5" fmla="*/ 27684 h 244"/>
              <a:gd name="T6" fmla="*/ 4095750 w 2697"/>
              <a:gd name="T7" fmla="*/ 27684 h 244"/>
              <a:gd name="T8" fmla="*/ 4276725 w 2697"/>
              <a:gd name="T9" fmla="*/ 164899 h 244"/>
              <a:gd name="T10" fmla="*/ 4276725 w 2697"/>
              <a:gd name="T11" fmla="*/ 290077 h 2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97"/>
              <a:gd name="T19" fmla="*/ 0 h 244"/>
              <a:gd name="T20" fmla="*/ 2697 w 2697"/>
              <a:gd name="T21" fmla="*/ 244 h 2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97" h="244">
                <a:moveTo>
                  <a:pt x="12" y="244"/>
                </a:moveTo>
                <a:lnTo>
                  <a:pt x="12" y="163"/>
                </a:lnTo>
                <a:cubicBezTo>
                  <a:pt x="25" y="126"/>
                  <a:pt x="0" y="52"/>
                  <a:pt x="93" y="23"/>
                </a:cubicBezTo>
                <a:cubicBezTo>
                  <a:pt x="521" y="0"/>
                  <a:pt x="2463" y="1"/>
                  <a:pt x="2580" y="23"/>
                </a:cubicBezTo>
                <a:cubicBezTo>
                  <a:pt x="2697" y="45"/>
                  <a:pt x="2675" y="101"/>
                  <a:pt x="2694" y="137"/>
                </a:cubicBezTo>
                <a:lnTo>
                  <a:pt x="2694" y="241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94118" name="Rectangle 230"/>
          <p:cNvSpPr>
            <a:spLocks noChangeArrowheads="1"/>
          </p:cNvSpPr>
          <p:nvPr/>
        </p:nvSpPr>
        <p:spPr bwMode="auto">
          <a:xfrm>
            <a:off x="1393825" y="4500563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  <p:sp>
        <p:nvSpPr>
          <p:cNvPr id="294119" name="Rectangle 231"/>
          <p:cNvSpPr>
            <a:spLocks noChangeArrowheads="1"/>
          </p:cNvSpPr>
          <p:nvPr/>
        </p:nvSpPr>
        <p:spPr bwMode="auto">
          <a:xfrm>
            <a:off x="6061075" y="4510088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4124" name="AutoShape 236"/>
          <p:cNvSpPr>
            <a:spLocks noChangeArrowheads="1"/>
          </p:cNvSpPr>
          <p:nvPr/>
        </p:nvSpPr>
        <p:spPr bwMode="auto">
          <a:xfrm>
            <a:off x="0" y="4364038"/>
            <a:ext cx="1358900" cy="415925"/>
          </a:xfrm>
          <a:prstGeom prst="wedgeRoundRectCallout">
            <a:avLst>
              <a:gd name="adj1" fmla="val 60866"/>
              <a:gd name="adj2" fmla="val 160306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საქონელი</a:t>
            </a:r>
            <a:endParaRPr lang="ru-RU" b="1">
              <a:latin typeface="Arial" charset="0"/>
            </a:endParaRPr>
          </a:p>
        </p:txBody>
      </p:sp>
      <p:sp>
        <p:nvSpPr>
          <p:cNvPr id="294125" name="AutoShape 237"/>
          <p:cNvSpPr>
            <a:spLocks noChangeArrowheads="1"/>
          </p:cNvSpPr>
          <p:nvPr/>
        </p:nvSpPr>
        <p:spPr bwMode="auto">
          <a:xfrm>
            <a:off x="7523163" y="4251325"/>
            <a:ext cx="1198562" cy="700088"/>
          </a:xfrm>
          <a:prstGeom prst="wedgeRoundRectCallout">
            <a:avLst>
              <a:gd name="adj1" fmla="val -60463"/>
              <a:gd name="adj2" fmla="val 94898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პრაის-ლისტი</a:t>
            </a:r>
            <a:endParaRPr lang="ru-RU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9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9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9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9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9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 autoUpdateAnimBg="0"/>
      <p:bldP spid="294051" grpId="0" animBg="1"/>
      <p:bldP spid="294052" grpId="0" autoUpdateAnimBg="0"/>
      <p:bldP spid="294053" grpId="0" autoUpdateAnimBg="0"/>
      <p:bldP spid="294054" grpId="0" autoUpdateAnimBg="0"/>
      <p:bldP spid="294117" grpId="0" animBg="1"/>
      <p:bldP spid="294118" grpId="0" autoUpdateAnimBg="0"/>
      <p:bldP spid="294119" grpId="0" autoUpdateAnimBg="0"/>
      <p:bldP spid="294124" grpId="0" animBg="1" autoUpdateAnimBg="0"/>
      <p:bldP spid="29412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3595D6CE-C791-40C6-A48D-2253EF05DFBA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6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ცხრილებს შორის კავშირები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355600" y="852488"/>
            <a:ext cx="8480425" cy="7366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მრავალი-მრავალთან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(«</a:t>
            </a:r>
            <a:r>
              <a:rPr lang="ru-RU" sz="2400" b="1">
                <a:solidFill>
                  <a:srgbClr val="FF0000"/>
                </a:solidFill>
                <a:latin typeface="Arial" charset="0"/>
                <a:sym typeface="Symbol" pitchFamily="18" charset="2"/>
              </a:rPr>
              <a:t>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- </a:t>
            </a:r>
            <a:r>
              <a:rPr lang="ru-RU" sz="2400" b="1">
                <a:solidFill>
                  <a:srgbClr val="FF0000"/>
                </a:solidFill>
                <a:latin typeface="Arial" charset="0"/>
                <a:sym typeface="Symbol" pitchFamily="18" charset="2"/>
              </a:rPr>
              <a:t>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»)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 </a:t>
            </a:r>
            <a:r>
              <a:rPr lang="ka-GE" sz="2000">
                <a:latin typeface="Arial" charset="0"/>
              </a:rPr>
              <a:t>ერთ ჩანაწერს პირველი ცხრილიდან შეესაბამება მრავალი ჩანაწერი მეორე ცხრილიდა და პირიქით.</a:t>
            </a:r>
            <a:endParaRPr lang="ru-RU" sz="2000">
              <a:latin typeface="Arial" charset="0"/>
            </a:endParaRPr>
          </a:p>
        </p:txBody>
      </p:sp>
      <p:graphicFrame>
        <p:nvGraphicFramePr>
          <p:cNvPr id="296150" name="Group 214"/>
          <p:cNvGraphicFramePr>
            <a:graphicFrameLocks noGrp="1"/>
          </p:cNvGraphicFramePr>
          <p:nvPr/>
        </p:nvGraphicFramePr>
        <p:xfrm>
          <a:off x="1922463" y="2097088"/>
          <a:ext cx="1646237" cy="1432560"/>
        </p:xfrm>
        <a:graphic>
          <a:graphicData uri="http://schemas.openxmlformats.org/drawingml/2006/table">
            <a:tbl>
              <a:tblPr/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ფერაძე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ესებუა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6163" name="Group 227"/>
          <p:cNvGraphicFramePr>
            <a:graphicFrameLocks noGrp="1"/>
          </p:cNvGraphicFramePr>
          <p:nvPr/>
        </p:nvGraphicFramePr>
        <p:xfrm>
          <a:off x="4665663" y="2060575"/>
          <a:ext cx="1851025" cy="152400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ისტორია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გეოგრაფია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ბიოლოგია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5987" name="Line 51"/>
          <p:cNvSpPr>
            <a:spLocks noChangeShapeType="1"/>
          </p:cNvSpPr>
          <p:nvPr/>
        </p:nvSpPr>
        <p:spPr bwMode="auto">
          <a:xfrm>
            <a:off x="3471863" y="2552700"/>
            <a:ext cx="13096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5988" name="Line 52"/>
          <p:cNvSpPr>
            <a:spLocks noChangeShapeType="1"/>
          </p:cNvSpPr>
          <p:nvPr/>
        </p:nvSpPr>
        <p:spPr bwMode="auto">
          <a:xfrm>
            <a:off x="3476625" y="2547938"/>
            <a:ext cx="1314450" cy="271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5989" name="Line 53"/>
          <p:cNvSpPr>
            <a:spLocks noChangeShapeType="1"/>
          </p:cNvSpPr>
          <p:nvPr/>
        </p:nvSpPr>
        <p:spPr bwMode="auto">
          <a:xfrm>
            <a:off x="3481388" y="2819400"/>
            <a:ext cx="13096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5990" name="Line 54"/>
          <p:cNvSpPr>
            <a:spLocks noChangeShapeType="1"/>
          </p:cNvSpPr>
          <p:nvPr/>
        </p:nvSpPr>
        <p:spPr bwMode="auto">
          <a:xfrm>
            <a:off x="3481388" y="2819400"/>
            <a:ext cx="1309687" cy="309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5991" name="Rectangle 55"/>
          <p:cNvSpPr>
            <a:spLocks noChangeArrowheads="1"/>
          </p:cNvSpPr>
          <p:nvPr/>
        </p:nvSpPr>
        <p:spPr bwMode="auto">
          <a:xfrm>
            <a:off x="346075" y="3568700"/>
            <a:ext cx="8232775" cy="417513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რეალიზაცია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 </a:t>
            </a:r>
            <a:r>
              <a:rPr lang="ka-GE" sz="2000">
                <a:latin typeface="Arial" charset="0"/>
              </a:rPr>
              <a:t>მესამე ცხრილისა და ორი </a:t>
            </a:r>
            <a:r>
              <a:rPr lang="ru-RU" sz="2000">
                <a:latin typeface="Arial" charset="0"/>
              </a:rPr>
              <a:t>«1-</a:t>
            </a:r>
            <a:r>
              <a:rPr lang="ru-RU" sz="2800">
                <a:latin typeface="Arial" charset="0"/>
                <a:sym typeface="Symbol" pitchFamily="18" charset="2"/>
              </a:rPr>
              <a:t></a:t>
            </a:r>
            <a:r>
              <a:rPr lang="ru-RU" sz="2000">
                <a:latin typeface="Arial" charset="0"/>
              </a:rPr>
              <a:t>»</a:t>
            </a:r>
            <a:r>
              <a:rPr lang="ka-GE" sz="2000">
                <a:latin typeface="Arial" charset="0"/>
              </a:rPr>
              <a:t> კავშირის საშუალებით</a:t>
            </a:r>
            <a:r>
              <a:rPr lang="ru-RU" sz="2000">
                <a:latin typeface="Arial" charset="0"/>
              </a:rPr>
              <a:t>.</a:t>
            </a:r>
          </a:p>
        </p:txBody>
      </p:sp>
      <p:graphicFrame>
        <p:nvGraphicFramePr>
          <p:cNvPr id="296168" name="Group 232"/>
          <p:cNvGraphicFramePr>
            <a:graphicFrameLocks noGrp="1"/>
          </p:cNvGraphicFramePr>
          <p:nvPr/>
        </p:nvGraphicFramePr>
        <p:xfrm>
          <a:off x="763588" y="4868863"/>
          <a:ext cx="1646237" cy="1432560"/>
        </p:xfrm>
        <a:graphic>
          <a:graphicData uri="http://schemas.openxmlformats.org/drawingml/2006/table">
            <a:tbl>
              <a:tblPr/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ფერაძე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ესებუა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6174" name="Group 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337462"/>
              </p:ext>
            </p:extLst>
          </p:nvPr>
        </p:nvGraphicFramePr>
        <p:xfrm>
          <a:off x="7124700" y="4883150"/>
          <a:ext cx="1646238" cy="2164080"/>
        </p:xfrm>
        <a:graphic>
          <a:graphicData uri="http://schemas.openxmlformats.org/drawingml/2006/table">
            <a:tbl>
              <a:tblPr/>
              <a:tblGrid>
                <a:gridCol w="61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ისტორია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გეოგრაფია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ბიოლოგია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6135" name="Group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02702"/>
              </p:ext>
            </p:extLst>
          </p:nvPr>
        </p:nvGraphicFramePr>
        <p:xfrm>
          <a:off x="3016250" y="4878388"/>
          <a:ext cx="3609975" cy="1737360"/>
        </p:xfrm>
        <a:graphic>
          <a:graphicData uri="http://schemas.openxmlformats.org/drawingml/2006/table">
            <a:tbl>
              <a:tblPr/>
              <a:tblGrid>
                <a:gridCol w="51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მასწ. 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საგნის 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კლასი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9-А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8-Б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7-В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6121" name="Freeform 185"/>
          <p:cNvSpPr>
            <a:spLocks/>
          </p:cNvSpPr>
          <p:nvPr/>
        </p:nvSpPr>
        <p:spPr bwMode="auto">
          <a:xfrm>
            <a:off x="993775" y="4568825"/>
            <a:ext cx="3017838" cy="293688"/>
          </a:xfrm>
          <a:custGeom>
            <a:avLst/>
            <a:gdLst>
              <a:gd name="T0" fmla="*/ 13428 w 2697"/>
              <a:gd name="T1" fmla="*/ 293688 h 244"/>
              <a:gd name="T2" fmla="*/ 13428 w 2697"/>
              <a:gd name="T3" fmla="*/ 196193 h 244"/>
              <a:gd name="T4" fmla="*/ 104063 w 2697"/>
              <a:gd name="T5" fmla="*/ 27684 h 244"/>
              <a:gd name="T6" fmla="*/ 2886920 w 2697"/>
              <a:gd name="T7" fmla="*/ 27684 h 244"/>
              <a:gd name="T8" fmla="*/ 3014481 w 2697"/>
              <a:gd name="T9" fmla="*/ 164899 h 244"/>
              <a:gd name="T10" fmla="*/ 3014481 w 2697"/>
              <a:gd name="T11" fmla="*/ 290077 h 2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97"/>
              <a:gd name="T19" fmla="*/ 0 h 244"/>
              <a:gd name="T20" fmla="*/ 2697 w 2697"/>
              <a:gd name="T21" fmla="*/ 244 h 2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97" h="244">
                <a:moveTo>
                  <a:pt x="12" y="244"/>
                </a:moveTo>
                <a:lnTo>
                  <a:pt x="12" y="163"/>
                </a:lnTo>
                <a:cubicBezTo>
                  <a:pt x="25" y="126"/>
                  <a:pt x="0" y="52"/>
                  <a:pt x="93" y="23"/>
                </a:cubicBezTo>
                <a:cubicBezTo>
                  <a:pt x="521" y="0"/>
                  <a:pt x="2463" y="1"/>
                  <a:pt x="2580" y="23"/>
                </a:cubicBezTo>
                <a:cubicBezTo>
                  <a:pt x="2697" y="45"/>
                  <a:pt x="2675" y="101"/>
                  <a:pt x="2694" y="137"/>
                </a:cubicBezTo>
                <a:lnTo>
                  <a:pt x="2694" y="241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96122" name="Freeform 186"/>
          <p:cNvSpPr>
            <a:spLocks/>
          </p:cNvSpPr>
          <p:nvPr/>
        </p:nvSpPr>
        <p:spPr bwMode="auto">
          <a:xfrm>
            <a:off x="4989513" y="4587875"/>
            <a:ext cx="2359025" cy="293688"/>
          </a:xfrm>
          <a:custGeom>
            <a:avLst/>
            <a:gdLst>
              <a:gd name="T0" fmla="*/ 10496 w 2697"/>
              <a:gd name="T1" fmla="*/ 293688 h 244"/>
              <a:gd name="T2" fmla="*/ 10496 w 2697"/>
              <a:gd name="T3" fmla="*/ 196193 h 244"/>
              <a:gd name="T4" fmla="*/ 81346 w 2697"/>
              <a:gd name="T5" fmla="*/ 27684 h 244"/>
              <a:gd name="T6" fmla="*/ 2256687 w 2697"/>
              <a:gd name="T7" fmla="*/ 27684 h 244"/>
              <a:gd name="T8" fmla="*/ 2356401 w 2697"/>
              <a:gd name="T9" fmla="*/ 164899 h 244"/>
              <a:gd name="T10" fmla="*/ 2356401 w 2697"/>
              <a:gd name="T11" fmla="*/ 290077 h 2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97"/>
              <a:gd name="T19" fmla="*/ 0 h 244"/>
              <a:gd name="T20" fmla="*/ 2697 w 2697"/>
              <a:gd name="T21" fmla="*/ 244 h 2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97" h="244">
                <a:moveTo>
                  <a:pt x="12" y="244"/>
                </a:moveTo>
                <a:lnTo>
                  <a:pt x="12" y="163"/>
                </a:lnTo>
                <a:cubicBezTo>
                  <a:pt x="25" y="126"/>
                  <a:pt x="0" y="52"/>
                  <a:pt x="93" y="23"/>
                </a:cubicBezTo>
                <a:cubicBezTo>
                  <a:pt x="521" y="0"/>
                  <a:pt x="2463" y="1"/>
                  <a:pt x="2580" y="23"/>
                </a:cubicBezTo>
                <a:cubicBezTo>
                  <a:pt x="2697" y="45"/>
                  <a:pt x="2675" y="101"/>
                  <a:pt x="2694" y="137"/>
                </a:cubicBezTo>
                <a:lnTo>
                  <a:pt x="2694" y="241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96124" name="AutoShape 188"/>
          <p:cNvSpPr>
            <a:spLocks noChangeArrowheads="1"/>
          </p:cNvSpPr>
          <p:nvPr/>
        </p:nvSpPr>
        <p:spPr bwMode="auto">
          <a:xfrm>
            <a:off x="3659188" y="4071938"/>
            <a:ext cx="1771650" cy="415925"/>
          </a:xfrm>
          <a:prstGeom prst="wedgeRoundRectCallout">
            <a:avLst>
              <a:gd name="adj1" fmla="val -4931"/>
              <a:gd name="adj2" fmla="val 146944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ცხრილი</a:t>
            </a:r>
            <a:endParaRPr lang="ru-RU" b="1">
              <a:latin typeface="Arial" charset="0"/>
            </a:endParaRPr>
          </a:p>
        </p:txBody>
      </p:sp>
      <p:sp>
        <p:nvSpPr>
          <p:cNvPr id="296125" name="AutoShape 189"/>
          <p:cNvSpPr>
            <a:spLocks noChangeArrowheads="1"/>
          </p:cNvSpPr>
          <p:nvPr/>
        </p:nvSpPr>
        <p:spPr bwMode="auto">
          <a:xfrm>
            <a:off x="471488" y="1725613"/>
            <a:ext cx="1211262" cy="750887"/>
          </a:xfrm>
          <a:prstGeom prst="wedgeRoundRectCallout">
            <a:avLst>
              <a:gd name="adj1" fmla="val 69657"/>
              <a:gd name="adj2" fmla="val 43870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მასწავლებლები</a:t>
            </a:r>
            <a:endParaRPr lang="ru-RU" b="1">
              <a:latin typeface="Arial" charset="0"/>
            </a:endParaRPr>
          </a:p>
        </p:txBody>
      </p:sp>
      <p:sp>
        <p:nvSpPr>
          <p:cNvPr id="296126" name="AutoShape 190"/>
          <p:cNvSpPr>
            <a:spLocks noChangeArrowheads="1"/>
          </p:cNvSpPr>
          <p:nvPr/>
        </p:nvSpPr>
        <p:spPr bwMode="auto">
          <a:xfrm>
            <a:off x="6710363" y="1790700"/>
            <a:ext cx="1509712" cy="415925"/>
          </a:xfrm>
          <a:prstGeom prst="wedgeRoundRectCallout">
            <a:avLst>
              <a:gd name="adj1" fmla="val -76394"/>
              <a:gd name="adj2" fmla="val 117176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საგნები</a:t>
            </a:r>
            <a:endParaRPr lang="ru-RU" b="1">
              <a:latin typeface="Arial" charset="0"/>
            </a:endParaRPr>
          </a:p>
        </p:txBody>
      </p:sp>
      <p:sp>
        <p:nvSpPr>
          <p:cNvPr id="296136" name="Rectangle 200"/>
          <p:cNvSpPr>
            <a:spLocks noChangeArrowheads="1"/>
          </p:cNvSpPr>
          <p:nvPr/>
        </p:nvSpPr>
        <p:spPr bwMode="auto">
          <a:xfrm>
            <a:off x="4646613" y="4548188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6138" name="Rectangle 202"/>
          <p:cNvSpPr>
            <a:spLocks noChangeArrowheads="1"/>
          </p:cNvSpPr>
          <p:nvPr/>
        </p:nvSpPr>
        <p:spPr bwMode="auto">
          <a:xfrm>
            <a:off x="3602038" y="4556125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6139" name="Rectangle 203"/>
          <p:cNvSpPr>
            <a:spLocks noChangeArrowheads="1"/>
          </p:cNvSpPr>
          <p:nvPr/>
        </p:nvSpPr>
        <p:spPr bwMode="auto">
          <a:xfrm>
            <a:off x="3592513" y="2238375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6140" name="Rectangle 204"/>
          <p:cNvSpPr>
            <a:spLocks noChangeArrowheads="1"/>
          </p:cNvSpPr>
          <p:nvPr/>
        </p:nvSpPr>
        <p:spPr bwMode="auto">
          <a:xfrm>
            <a:off x="4318000" y="2238375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6142" name="Rectangle 206"/>
          <p:cNvSpPr>
            <a:spLocks noChangeArrowheads="1"/>
          </p:cNvSpPr>
          <p:nvPr/>
        </p:nvSpPr>
        <p:spPr bwMode="auto">
          <a:xfrm>
            <a:off x="658813" y="4557713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  <p:sp>
        <p:nvSpPr>
          <p:cNvPr id="296143" name="Rectangle 207"/>
          <p:cNvSpPr>
            <a:spLocks noChangeArrowheads="1"/>
          </p:cNvSpPr>
          <p:nvPr/>
        </p:nvSpPr>
        <p:spPr bwMode="auto">
          <a:xfrm>
            <a:off x="7380288" y="4576763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9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9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9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9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9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9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9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9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9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9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9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 autoUpdateAnimBg="0"/>
      <p:bldP spid="295987" grpId="0" animBg="1"/>
      <p:bldP spid="295988" grpId="0" animBg="1"/>
      <p:bldP spid="295989" grpId="0" animBg="1"/>
      <p:bldP spid="295990" grpId="0" animBg="1"/>
      <p:bldP spid="295991" grpId="0" autoUpdateAnimBg="0"/>
      <p:bldP spid="296121" grpId="0" animBg="1"/>
      <p:bldP spid="296122" grpId="0" animBg="1"/>
      <p:bldP spid="296124" grpId="0" animBg="1" autoUpdateAnimBg="0"/>
      <p:bldP spid="296125" grpId="0" animBg="1" autoUpdateAnimBg="0"/>
      <p:bldP spid="296126" grpId="0" animBg="1" autoUpdateAnimBg="0"/>
      <p:bldP spid="296136" grpId="0" autoUpdateAnimBg="0"/>
      <p:bldP spid="296138" grpId="0" autoUpdateAnimBg="0"/>
      <p:bldP spid="296139" grpId="0" autoUpdateAnimBg="0"/>
      <p:bldP spid="296140" grpId="0" autoUpdateAnimBg="0"/>
      <p:bldP spid="296142" grpId="0" autoUpdateAnimBg="0"/>
      <p:bldP spid="29614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7F5009B7-5DCC-4B95-BE69-7E7EE36BE2FC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7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355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მონაცემთა ბაზების ნორმალიზაცია</a:t>
            </a:r>
            <a:endParaRPr lang="ru-RU" sz="3000" b="1">
              <a:latin typeface="Arial" charset="0"/>
            </a:endParaRPr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355600" y="852488"/>
            <a:ext cx="8291513" cy="676275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4040C0"/>
                </a:solidFill>
                <a:latin typeface="Arial" charset="0"/>
              </a:rPr>
              <a:t>ნორმალიზაცია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 </a:t>
            </a:r>
            <a:r>
              <a:rPr lang="ka-GE">
                <a:latin typeface="Arial" charset="0"/>
              </a:rPr>
              <a:t>ეს ისეთი მონაცემთა ბაზების სტრუქტურის შემუშავებას ნიშნავს, რომელშიც არ იქნება მონაცემებისა და კავშირების სიჭარბე</a:t>
            </a:r>
            <a:r>
              <a:rPr lang="ka-GE" sz="2000">
                <a:latin typeface="Arial" charset="0"/>
              </a:rPr>
              <a:t>.</a:t>
            </a:r>
            <a:endParaRPr lang="ru-RU" sz="2000">
              <a:latin typeface="Arial" charset="0"/>
            </a:endParaRPr>
          </a:p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4040C0"/>
                </a:solidFill>
                <a:latin typeface="Arial" charset="0"/>
              </a:rPr>
              <a:t>ძირითადი პრინციპები:</a:t>
            </a:r>
            <a:endParaRPr lang="ru-RU" sz="2000">
              <a:latin typeface="Arial" charset="0"/>
            </a:endParaRPr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550863" y="1968500"/>
            <a:ext cx="8243887" cy="407988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არც ერთი ველი არ უნდა იყოს გაყოფადი</a:t>
            </a:r>
            <a:r>
              <a:rPr lang="ru-RU" sz="2000">
                <a:latin typeface="Arial" charset="0"/>
              </a:rPr>
              <a:t> </a:t>
            </a:r>
            <a:r>
              <a:rPr lang="ru-RU" sz="2400">
                <a:latin typeface="Arial" charset="0"/>
              </a:rPr>
              <a:t> </a:t>
            </a:r>
          </a:p>
        </p:txBody>
      </p:sp>
      <p:graphicFrame>
        <p:nvGraphicFramePr>
          <p:cNvPr id="298146" name="Group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37781"/>
              </p:ext>
            </p:extLst>
          </p:nvPr>
        </p:nvGraphicFramePr>
        <p:xfrm>
          <a:off x="1347788" y="2568575"/>
          <a:ext cx="1700212" cy="1219200"/>
        </p:xfrm>
        <a:graphic>
          <a:graphicData uri="http://schemas.openxmlformats.org/drawingml/2006/table">
            <a:tbl>
              <a:tblPr/>
              <a:tblGrid>
                <a:gridCol w="1700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გვარი, სახელი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თორთლაძე მერაბ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ცირამუა კობა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8045" name="Group 61"/>
          <p:cNvGraphicFramePr>
            <a:graphicFrameLocks noGrp="1"/>
          </p:cNvGraphicFramePr>
          <p:nvPr/>
        </p:nvGraphicFramePr>
        <p:xfrm>
          <a:off x="4589463" y="2559050"/>
          <a:ext cx="2447925" cy="1219200"/>
        </p:xfrm>
        <a:graphic>
          <a:graphicData uri="http://schemas.openxmlformats.org/drawingml/2006/table">
            <a:tbl>
              <a:tblPr/>
              <a:tblGrid>
                <a:gridCol w="1274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სახელი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თორთლაძე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მერაბ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ცირამუა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კობა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046" name="AutoShape 62"/>
          <p:cNvSpPr>
            <a:spLocks noChangeArrowheads="1"/>
          </p:cNvSpPr>
          <p:nvPr/>
        </p:nvSpPr>
        <p:spPr bwMode="auto">
          <a:xfrm>
            <a:off x="3375025" y="2922588"/>
            <a:ext cx="895350" cy="461962"/>
          </a:xfrm>
          <a:prstGeom prst="rightArrow">
            <a:avLst>
              <a:gd name="adj1" fmla="val 50000"/>
              <a:gd name="adj2" fmla="val 48454"/>
            </a:avLst>
          </a:prstGeom>
          <a:solidFill>
            <a:schemeClr val="hlink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298047" name="AutoShape 63"/>
          <p:cNvSpPr>
            <a:spLocks noChangeArrowheads="1"/>
          </p:cNvSpPr>
          <p:nvPr/>
        </p:nvSpPr>
        <p:spPr bwMode="auto">
          <a:xfrm rot="2700000">
            <a:off x="1612900" y="2657475"/>
            <a:ext cx="1122363" cy="1122363"/>
          </a:xfrm>
          <a:prstGeom prst="plus">
            <a:avLst>
              <a:gd name="adj" fmla="val 40171"/>
            </a:avLst>
          </a:prstGeom>
          <a:solidFill>
            <a:srgbClr val="FF0000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298048" name="Rectangle 64"/>
          <p:cNvSpPr>
            <a:spLocks noChangeArrowheads="1"/>
          </p:cNvSpPr>
          <p:nvPr/>
        </p:nvSpPr>
        <p:spPr bwMode="auto">
          <a:xfrm>
            <a:off x="581025" y="3954463"/>
            <a:ext cx="8207375" cy="7175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  <a:buFont typeface="Wingdings" pitchFamily="2" charset="2"/>
              <a:buChar char="q"/>
            </a:pPr>
            <a:r>
              <a:rPr lang="ka-GE">
                <a:latin typeface="Arial" charset="0"/>
              </a:rPr>
              <a:t>არ უნდა იყოს ისეთი ველები, რომლებიც აღნიშნავენ ერთი და იმავეს (მაგალითად საქონლის) სხვადასხვა სახეობას.</a:t>
            </a:r>
            <a:r>
              <a:rPr lang="ru-RU">
                <a:latin typeface="Arial" charset="0"/>
              </a:rPr>
              <a:t>  </a:t>
            </a:r>
          </a:p>
        </p:txBody>
      </p:sp>
      <p:graphicFrame>
        <p:nvGraphicFramePr>
          <p:cNvPr id="298150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64805"/>
              </p:ext>
            </p:extLst>
          </p:nvPr>
        </p:nvGraphicFramePr>
        <p:xfrm>
          <a:off x="733425" y="5095875"/>
          <a:ext cx="2425700" cy="1432560"/>
        </p:xfrm>
        <a:graphic>
          <a:graphicData uri="http://schemas.openxmlformats.org/drawingml/2006/table">
            <a:tbl>
              <a:tblPr/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წელი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ბანანი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რაოდენობა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5600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083" name="AutoShape 99"/>
          <p:cNvSpPr>
            <a:spLocks noChangeArrowheads="1"/>
          </p:cNvSpPr>
          <p:nvPr/>
        </p:nvSpPr>
        <p:spPr bwMode="auto">
          <a:xfrm rot="2700000">
            <a:off x="1293140" y="5474374"/>
            <a:ext cx="1122362" cy="1122362"/>
          </a:xfrm>
          <a:prstGeom prst="plus">
            <a:avLst>
              <a:gd name="adj" fmla="val 40171"/>
            </a:avLst>
          </a:prstGeom>
          <a:solidFill>
            <a:srgbClr val="FF0000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298084" name="AutoShape 100"/>
          <p:cNvSpPr>
            <a:spLocks noChangeArrowheads="1"/>
          </p:cNvSpPr>
          <p:nvPr/>
        </p:nvSpPr>
        <p:spPr bwMode="auto">
          <a:xfrm>
            <a:off x="3262313" y="5495925"/>
            <a:ext cx="895350" cy="461963"/>
          </a:xfrm>
          <a:prstGeom prst="rightArrow">
            <a:avLst>
              <a:gd name="adj1" fmla="val 50000"/>
              <a:gd name="adj2" fmla="val 48454"/>
            </a:avLst>
          </a:prstGeom>
          <a:solidFill>
            <a:schemeClr val="hlink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graphicFrame>
        <p:nvGraphicFramePr>
          <p:cNvPr id="298173" name="Group 189"/>
          <p:cNvGraphicFramePr>
            <a:graphicFrameLocks noGrp="1"/>
          </p:cNvGraphicFramePr>
          <p:nvPr/>
        </p:nvGraphicFramePr>
        <p:xfrm>
          <a:off x="4108450" y="5048250"/>
          <a:ext cx="2892425" cy="143256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წელი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საქონლის 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რაოდენობა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8170" name="Group 1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55861"/>
              </p:ext>
            </p:extLst>
          </p:nvPr>
        </p:nvGraphicFramePr>
        <p:xfrm>
          <a:off x="7229475" y="5038725"/>
          <a:ext cx="1733550" cy="1219200"/>
        </p:xfrm>
        <a:graphic>
          <a:graphicData uri="http://schemas.openxmlformats.org/drawingml/2006/table">
            <a:tbl>
              <a:tblPr/>
              <a:tblGrid>
                <a:gridCol w="677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ბანანი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კივი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142" name="Freeform 158"/>
          <p:cNvSpPr>
            <a:spLocks/>
          </p:cNvSpPr>
          <p:nvPr/>
        </p:nvSpPr>
        <p:spPr bwMode="auto">
          <a:xfrm>
            <a:off x="5226050" y="4757738"/>
            <a:ext cx="2274888" cy="293687"/>
          </a:xfrm>
          <a:custGeom>
            <a:avLst/>
            <a:gdLst>
              <a:gd name="T0" fmla="*/ 10122 w 2697"/>
              <a:gd name="T1" fmla="*/ 293687 h 244"/>
              <a:gd name="T2" fmla="*/ 10122 w 2697"/>
              <a:gd name="T3" fmla="*/ 196193 h 244"/>
              <a:gd name="T4" fmla="*/ 78444 w 2697"/>
              <a:gd name="T5" fmla="*/ 27684 h 244"/>
              <a:gd name="T6" fmla="*/ 2176200 w 2697"/>
              <a:gd name="T7" fmla="*/ 27684 h 244"/>
              <a:gd name="T8" fmla="*/ 2272358 w 2697"/>
              <a:gd name="T9" fmla="*/ 164898 h 244"/>
              <a:gd name="T10" fmla="*/ 2272358 w 2697"/>
              <a:gd name="T11" fmla="*/ 290076 h 2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97"/>
              <a:gd name="T19" fmla="*/ 0 h 244"/>
              <a:gd name="T20" fmla="*/ 2697 w 2697"/>
              <a:gd name="T21" fmla="*/ 244 h 2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97" h="244">
                <a:moveTo>
                  <a:pt x="12" y="244"/>
                </a:moveTo>
                <a:lnTo>
                  <a:pt x="12" y="163"/>
                </a:lnTo>
                <a:cubicBezTo>
                  <a:pt x="25" y="126"/>
                  <a:pt x="0" y="52"/>
                  <a:pt x="93" y="23"/>
                </a:cubicBezTo>
                <a:cubicBezTo>
                  <a:pt x="521" y="0"/>
                  <a:pt x="2463" y="1"/>
                  <a:pt x="2580" y="23"/>
                </a:cubicBezTo>
                <a:cubicBezTo>
                  <a:pt x="2697" y="45"/>
                  <a:pt x="2675" y="101"/>
                  <a:pt x="2694" y="137"/>
                </a:cubicBezTo>
                <a:lnTo>
                  <a:pt x="2694" y="241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98143" name="Rectangle 159"/>
          <p:cNvSpPr>
            <a:spLocks noChangeArrowheads="1"/>
          </p:cNvSpPr>
          <p:nvPr/>
        </p:nvSpPr>
        <p:spPr bwMode="auto">
          <a:xfrm>
            <a:off x="4873625" y="4735513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sz="2800" b="1">
                <a:solidFill>
                  <a:srgbClr val="4040C0"/>
                </a:solidFill>
                <a:latin typeface="Arial" charset="0"/>
                <a:sym typeface="Symbol" pitchFamily="18" charset="2"/>
              </a:rPr>
              <a:t></a:t>
            </a:r>
          </a:p>
        </p:txBody>
      </p:sp>
      <p:sp>
        <p:nvSpPr>
          <p:cNvPr id="298144" name="Rectangle 160"/>
          <p:cNvSpPr>
            <a:spLocks noChangeArrowheads="1"/>
          </p:cNvSpPr>
          <p:nvPr/>
        </p:nvSpPr>
        <p:spPr bwMode="auto">
          <a:xfrm>
            <a:off x="7502525" y="4764088"/>
            <a:ext cx="311150" cy="273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 lIns="0" tIns="0" rIns="0" bIns="0" anchor="ctr"/>
          <a:lstStyle/>
          <a:p>
            <a:pPr algn="ctr"/>
            <a:r>
              <a:rPr lang="ru-RU" b="1">
                <a:solidFill>
                  <a:srgbClr val="4040C0"/>
                </a:solidFill>
                <a:latin typeface="Arial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9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9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9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9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9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9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9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9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9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9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 build="p" autoUpdateAnimBg="0"/>
      <p:bldP spid="297989" grpId="0" autoUpdateAnimBg="0"/>
      <p:bldP spid="298046" grpId="0" animBg="1"/>
      <p:bldP spid="298047" grpId="0" animBg="1"/>
      <p:bldP spid="298048" grpId="0" autoUpdateAnimBg="0"/>
      <p:bldP spid="298083" grpId="0" animBg="1"/>
      <p:bldP spid="298084" grpId="0" animBg="1"/>
      <p:bldP spid="298142" grpId="0" animBg="1"/>
      <p:bldP spid="298143" grpId="0" autoUpdateAnimBg="0"/>
      <p:bldP spid="29814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374E1DC7-F93F-42B9-9A22-88FD8FFCE402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8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457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მონაცემთა ბაზების ნორმალიზაცია</a:t>
            </a:r>
            <a:endParaRPr lang="ru-RU" sz="3000" b="1">
              <a:latin typeface="Arial" charset="0"/>
            </a:endParaRP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355600" y="852488"/>
            <a:ext cx="8432800" cy="4254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4040C0"/>
                </a:solidFill>
                <a:latin typeface="Arial" charset="0"/>
              </a:rPr>
              <a:t>ძირითადი პრინციპები</a:t>
            </a:r>
            <a:r>
              <a:rPr lang="ru-RU" sz="2000">
                <a:latin typeface="Arial" charset="0"/>
              </a:rPr>
              <a:t>:</a:t>
            </a: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525463" y="1241425"/>
            <a:ext cx="8356600" cy="801688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ნებისმიერი ველი დამოკიდებული უნდა  იყოს მხოლოდ </a:t>
            </a:r>
            <a:r>
              <a:rPr lang="ka-GE" sz="2000" b="1">
                <a:latin typeface="Arial" charset="0"/>
              </a:rPr>
              <a:t>გასაღებზე </a:t>
            </a:r>
            <a:r>
              <a:rPr lang="ka-GE" sz="2000">
                <a:latin typeface="Arial" charset="0"/>
              </a:rPr>
              <a:t>(გასაღები-ეს არის ველი ან ველების კომბინაცია, რომელიც ცალსახად განსაზღვრავს ჩანაწერს).</a:t>
            </a:r>
            <a:r>
              <a:rPr lang="ru-RU" sz="2000">
                <a:latin typeface="Arial" charset="0"/>
              </a:rPr>
              <a:t>  </a:t>
            </a:r>
            <a:r>
              <a:rPr lang="ru-RU" sz="2400">
                <a:latin typeface="Arial" charset="0"/>
              </a:rPr>
              <a:t> </a:t>
            </a:r>
          </a:p>
        </p:txBody>
      </p:sp>
      <p:graphicFrame>
        <p:nvGraphicFramePr>
          <p:cNvPr id="304325" name="Group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81649"/>
              </p:ext>
            </p:extLst>
          </p:nvPr>
        </p:nvGraphicFramePr>
        <p:xfrm>
          <a:off x="3116263" y="2541588"/>
          <a:ext cx="2806700" cy="1219200"/>
        </p:xfrm>
        <a:graphic>
          <a:graphicData uri="http://schemas.openxmlformats.org/drawingml/2006/table">
            <a:tbl>
              <a:tblPr/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დასახელება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ფასი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9 000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ვინჩესტერი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11 000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4164" name="AutoShape 36"/>
          <p:cNvSpPr>
            <a:spLocks noChangeArrowheads="1"/>
          </p:cNvSpPr>
          <p:nvPr/>
        </p:nvSpPr>
        <p:spPr bwMode="auto">
          <a:xfrm rot="2700000">
            <a:off x="4998244" y="2593176"/>
            <a:ext cx="1122362" cy="1122363"/>
          </a:xfrm>
          <a:prstGeom prst="plus">
            <a:avLst>
              <a:gd name="adj" fmla="val 40171"/>
            </a:avLst>
          </a:prstGeom>
          <a:solidFill>
            <a:srgbClr val="FF0000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304165" name="Rectangle 37"/>
          <p:cNvSpPr>
            <a:spLocks noChangeArrowheads="1"/>
          </p:cNvSpPr>
          <p:nvPr/>
        </p:nvSpPr>
        <p:spPr bwMode="auto">
          <a:xfrm>
            <a:off x="581025" y="3954463"/>
            <a:ext cx="8207375" cy="7175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არ უნდა იყოს ისეთი ველები, რომელთა მოძებნა შესაძლებელი იქნება სხვა დანარჩენი ველების საშუალებით.</a:t>
            </a:r>
            <a:r>
              <a:rPr lang="ru-RU" sz="2000">
                <a:latin typeface="Arial" charset="0"/>
              </a:rPr>
              <a:t> </a:t>
            </a:r>
            <a:r>
              <a:rPr lang="ru-RU" sz="2400">
                <a:latin typeface="Arial" charset="0"/>
              </a:rPr>
              <a:t> </a:t>
            </a:r>
          </a:p>
        </p:txBody>
      </p:sp>
      <p:graphicFrame>
        <p:nvGraphicFramePr>
          <p:cNvPr id="304331" name="Group 203"/>
          <p:cNvGraphicFramePr>
            <a:graphicFrameLocks noGrp="1"/>
          </p:cNvGraphicFramePr>
          <p:nvPr/>
        </p:nvGraphicFramePr>
        <p:xfrm>
          <a:off x="1655763" y="4906963"/>
          <a:ext cx="5989637" cy="143256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7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ერთი ტონის ფასი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რაოდენობა ტონებში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ღირებულება</a:t>
                      </a:r>
                      <a:endParaRPr kumimoji="0" lang="ru-RU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ბანანები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12 000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კივი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30 000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4188" name="AutoShape 60"/>
          <p:cNvSpPr>
            <a:spLocks noChangeArrowheads="1"/>
          </p:cNvSpPr>
          <p:nvPr/>
        </p:nvSpPr>
        <p:spPr bwMode="auto">
          <a:xfrm rot="2700000">
            <a:off x="6430288" y="5232045"/>
            <a:ext cx="1122363" cy="1122362"/>
          </a:xfrm>
          <a:prstGeom prst="plus">
            <a:avLst>
              <a:gd name="adj" fmla="val 40171"/>
            </a:avLst>
          </a:prstGeom>
          <a:solidFill>
            <a:srgbClr val="FF0000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304232" name="AutoShape 104"/>
          <p:cNvSpPr>
            <a:spLocks noChangeArrowheads="1"/>
          </p:cNvSpPr>
          <p:nvPr/>
        </p:nvSpPr>
        <p:spPr bwMode="auto">
          <a:xfrm>
            <a:off x="1517650" y="2338388"/>
            <a:ext cx="1455738" cy="415925"/>
          </a:xfrm>
          <a:prstGeom prst="wedgeRoundRectCallout">
            <a:avLst>
              <a:gd name="adj1" fmla="val 65810"/>
              <a:gd name="adj2" fmla="val 128625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საქონელი</a:t>
            </a:r>
            <a:endParaRPr lang="ru-RU" b="1">
              <a:latin typeface="Arial" charset="0"/>
            </a:endParaRPr>
          </a:p>
        </p:txBody>
      </p:sp>
      <p:sp>
        <p:nvSpPr>
          <p:cNvPr id="304268" name="AutoShape 140"/>
          <p:cNvSpPr>
            <a:spLocks noChangeArrowheads="1"/>
          </p:cNvSpPr>
          <p:nvPr/>
        </p:nvSpPr>
        <p:spPr bwMode="auto">
          <a:xfrm>
            <a:off x="6456363" y="1997075"/>
            <a:ext cx="2225675" cy="1633538"/>
          </a:xfrm>
          <a:prstGeom prst="wedgeRoundRectCallout">
            <a:avLst>
              <a:gd name="adj1" fmla="val -80528"/>
              <a:gd name="adj2" fmla="val -9671"/>
              <a:gd name="adj3" fmla="val 16667"/>
            </a:avLst>
          </a:prstGeom>
          <a:solidFill>
            <a:srgbClr val="EAEAEA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sz="1400" b="1">
                <a:latin typeface="Arial" charset="0"/>
              </a:rPr>
              <a:t>დამოკიდებულია არა მხოლოდ საქონლის დასახელებაზე</a:t>
            </a:r>
            <a:r>
              <a:rPr lang="ru-RU" sz="1400" b="1">
                <a:latin typeface="Arial" charset="0"/>
              </a:rPr>
              <a:t>!</a:t>
            </a:r>
          </a:p>
        </p:txBody>
      </p:sp>
      <p:sp>
        <p:nvSpPr>
          <p:cNvPr id="304189" name="AutoShape 61"/>
          <p:cNvSpPr>
            <a:spLocks noChangeArrowheads="1"/>
          </p:cNvSpPr>
          <p:nvPr/>
        </p:nvSpPr>
        <p:spPr bwMode="auto">
          <a:xfrm rot="5400000">
            <a:off x="7351713" y="2582863"/>
            <a:ext cx="404812" cy="46196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304271" name="AutoShape 143"/>
          <p:cNvSpPr>
            <a:spLocks noChangeArrowheads="1"/>
          </p:cNvSpPr>
          <p:nvPr/>
        </p:nvSpPr>
        <p:spPr bwMode="auto">
          <a:xfrm>
            <a:off x="6619875" y="3063875"/>
            <a:ext cx="1976438" cy="41433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400">
            <a:noFill/>
            <a:round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პრაის-ლისტიტი</a:t>
            </a:r>
            <a:endParaRPr lang="ru-RU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0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0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2" grpId="0" autoUpdateAnimBg="0"/>
      <p:bldP spid="304133" grpId="0" autoUpdateAnimBg="0"/>
      <p:bldP spid="304164" grpId="0" animBg="1"/>
      <p:bldP spid="304165" grpId="0" autoUpdateAnimBg="0"/>
      <p:bldP spid="304188" grpId="0" animBg="1"/>
      <p:bldP spid="304232" grpId="0" animBg="1" autoUpdateAnimBg="0"/>
      <p:bldP spid="304268" grpId="0" animBg="1" autoUpdateAnimBg="0"/>
      <p:bldP spid="304189" grpId="0" animBg="1"/>
      <p:bldP spid="30427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E296990D-0C43-45C0-B9D4-757B77B92DAC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9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560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ძებნა მონაცემთა ბაზებში</a:t>
            </a:r>
            <a:endParaRPr lang="ru-RU" sz="3000" b="1">
              <a:latin typeface="Arial" charset="0"/>
            </a:endParaRPr>
          </a:p>
        </p:txBody>
      </p:sp>
      <p:sp>
        <p:nvSpPr>
          <p:cNvPr id="300036" name="Rectangle 4"/>
          <p:cNvSpPr>
            <a:spLocks noChangeArrowheads="1"/>
          </p:cNvSpPr>
          <p:nvPr/>
        </p:nvSpPr>
        <p:spPr bwMode="auto">
          <a:xfrm>
            <a:off x="336550" y="1003300"/>
            <a:ext cx="8451850" cy="8318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400" b="1">
                <a:solidFill>
                  <a:srgbClr val="4040C0"/>
                </a:solidFill>
                <a:latin typeface="Arial" charset="0"/>
              </a:rPr>
              <a:t>ხაზოვანი ძებნა</a:t>
            </a:r>
            <a:r>
              <a:rPr lang="ru-RU" sz="2400" b="1">
                <a:solidFill>
                  <a:srgbClr val="4040C0"/>
                </a:solidFill>
                <a:latin typeface="Arial" charset="0"/>
              </a:rPr>
              <a:t> </a:t>
            </a:r>
            <a:r>
              <a:rPr lang="ru-RU" sz="2400">
                <a:latin typeface="Arial" charset="0"/>
              </a:rPr>
              <a:t>–</a:t>
            </a:r>
            <a:r>
              <a:rPr lang="ka-GE" sz="2400">
                <a:latin typeface="Arial" charset="0"/>
              </a:rPr>
              <a:t>ეს არის ყველა ჩანაწერის გადარჩევა, მანამ სანამ არი იქნება მოძებნილი საჭირო ჩანაწერი</a:t>
            </a:r>
            <a:r>
              <a:rPr lang="ru-RU" sz="2400">
                <a:latin typeface="Arial" charset="0"/>
              </a:rPr>
              <a:t> </a:t>
            </a:r>
          </a:p>
        </p:txBody>
      </p:sp>
      <p:graphicFrame>
        <p:nvGraphicFramePr>
          <p:cNvPr id="300083" name="Group 51"/>
          <p:cNvGraphicFramePr>
            <a:graphicFrameLocks noGrp="1"/>
          </p:cNvGraphicFramePr>
          <p:nvPr/>
        </p:nvGraphicFramePr>
        <p:xfrm>
          <a:off x="2289175" y="2266950"/>
          <a:ext cx="2797175" cy="182880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კოდი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თუთბერიძე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ზედგინიძე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1024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ხომერიკი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060" name="AutoShape 28"/>
          <p:cNvSpPr>
            <a:spLocks noChangeArrowheads="1"/>
          </p:cNvSpPr>
          <p:nvPr/>
        </p:nvSpPr>
        <p:spPr bwMode="auto">
          <a:xfrm>
            <a:off x="5468938" y="2554288"/>
            <a:ext cx="1714500" cy="415925"/>
          </a:xfrm>
          <a:prstGeom prst="wedgeRoundRectCallout">
            <a:avLst>
              <a:gd name="adj1" fmla="val -89722"/>
              <a:gd name="adj2" fmla="val 176338"/>
              <a:gd name="adj3" fmla="val 16667"/>
            </a:avLst>
          </a:prstGeom>
          <a:solidFill>
            <a:srgbClr val="FFFFCC"/>
          </a:solidFill>
          <a:ln w="25400">
            <a:noFill/>
            <a:miter lim="800000"/>
            <a:headEnd/>
            <a:tailEnd type="none" w="med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/>
          <a:lstStyle/>
          <a:p>
            <a:pPr algn="ctr">
              <a:defRPr/>
            </a:pPr>
            <a:r>
              <a:rPr lang="ka-GE" b="1">
                <a:latin typeface="Arial" charset="0"/>
              </a:rPr>
              <a:t>მოდებაძე</a:t>
            </a:r>
            <a:r>
              <a:rPr lang="ru-RU" b="1">
                <a:latin typeface="Arial" charset="0"/>
              </a:rPr>
              <a:t>?</a:t>
            </a:r>
          </a:p>
        </p:txBody>
      </p:sp>
      <p:sp>
        <p:nvSpPr>
          <p:cNvPr id="300061" name="AutoShape 29"/>
          <p:cNvSpPr>
            <a:spLocks noChangeArrowheads="1"/>
          </p:cNvSpPr>
          <p:nvPr/>
        </p:nvSpPr>
        <p:spPr bwMode="auto">
          <a:xfrm rot="5400000">
            <a:off x="1139825" y="3171825"/>
            <a:ext cx="1423988" cy="376238"/>
          </a:xfrm>
          <a:prstGeom prst="rightArrow">
            <a:avLst>
              <a:gd name="adj1" fmla="val 50000"/>
              <a:gd name="adj2" fmla="val 94620"/>
            </a:avLst>
          </a:prstGeom>
          <a:solidFill>
            <a:schemeClr val="hlink"/>
          </a:solidFill>
          <a:ln w="25400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ru-RU" b="1">
              <a:latin typeface="Arial" charset="0"/>
            </a:endParaRPr>
          </a:p>
        </p:txBody>
      </p:sp>
      <p:sp>
        <p:nvSpPr>
          <p:cNvPr id="300062" name="AutoShape 30"/>
          <p:cNvSpPr>
            <a:spLocks noChangeArrowheads="1"/>
          </p:cNvSpPr>
          <p:nvPr/>
        </p:nvSpPr>
        <p:spPr bwMode="auto">
          <a:xfrm>
            <a:off x="5721350" y="3355975"/>
            <a:ext cx="1960563" cy="414338"/>
          </a:xfrm>
          <a:prstGeom prst="roundRect">
            <a:avLst>
              <a:gd name="adj" fmla="val 16667"/>
            </a:avLst>
          </a:prstGeom>
          <a:noFill/>
          <a:ln w="25400">
            <a:noFill/>
            <a:round/>
            <a:headEnd/>
            <a:tailEnd type="none" w="med" len="lg"/>
          </a:ln>
        </p:spPr>
        <p:txBody>
          <a:bodyPr wrap="none" anchor="ctr"/>
          <a:lstStyle/>
          <a:p>
            <a:pPr algn="ctr"/>
            <a:r>
              <a:rPr lang="ru-RU" sz="2000" b="1">
                <a:latin typeface="Arial" charset="0"/>
              </a:rPr>
              <a:t>1024 </a:t>
            </a:r>
            <a:r>
              <a:rPr lang="ka-GE" sz="2000" b="1">
                <a:latin typeface="Arial" charset="0"/>
              </a:rPr>
              <a:t>შედარება</a:t>
            </a:r>
            <a:r>
              <a:rPr lang="ru-RU" sz="2000" b="1">
                <a:latin typeface="Arial" charset="0"/>
              </a:rPr>
              <a:t>!</a:t>
            </a:r>
          </a:p>
        </p:txBody>
      </p:sp>
      <p:sp>
        <p:nvSpPr>
          <p:cNvPr id="300063" name="Rectangle 31"/>
          <p:cNvSpPr>
            <a:spLocks noChangeArrowheads="1"/>
          </p:cNvSpPr>
          <p:nvPr/>
        </p:nvSpPr>
        <p:spPr bwMode="auto">
          <a:xfrm>
            <a:off x="1316038" y="4646613"/>
            <a:ext cx="5761037" cy="5413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ka-GE" sz="2200">
                <a:latin typeface="Arial" charset="0"/>
              </a:rPr>
              <a:t>არ არის საჭირო მონაცემების წინასწარი მომზადება</a:t>
            </a:r>
            <a:endParaRPr lang="ru-RU" sz="2200">
              <a:latin typeface="Arial" charset="0"/>
            </a:endParaRPr>
          </a:p>
        </p:txBody>
      </p:sp>
      <p:grpSp>
        <p:nvGrpSpPr>
          <p:cNvPr id="2" name="Group 32"/>
          <p:cNvGrpSpPr>
            <a:grpSpLocks noChangeAspect="1"/>
          </p:cNvGrpSpPr>
          <p:nvPr/>
        </p:nvGrpSpPr>
        <p:grpSpPr bwMode="auto">
          <a:xfrm>
            <a:off x="842963" y="4687888"/>
            <a:ext cx="385762" cy="385762"/>
            <a:chOff x="2816" y="2458"/>
            <a:chExt cx="1728" cy="1728"/>
          </a:xfrm>
        </p:grpSpPr>
        <p:sp>
          <p:nvSpPr>
            <p:cNvPr id="25635" name="Oval 33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3" name="Group 34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25638" name="Rectangle 35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25639" name="Rectangle 36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25637" name="Freeform 37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38"/>
          <p:cNvGrpSpPr>
            <a:grpSpLocks noChangeAspect="1"/>
          </p:cNvGrpSpPr>
          <p:nvPr/>
        </p:nvGrpSpPr>
        <p:grpSpPr bwMode="auto">
          <a:xfrm>
            <a:off x="842963" y="5243513"/>
            <a:ext cx="395287" cy="395287"/>
            <a:chOff x="552" y="2523"/>
            <a:chExt cx="1728" cy="1728"/>
          </a:xfrm>
        </p:grpSpPr>
        <p:sp>
          <p:nvSpPr>
            <p:cNvPr id="25633" name="Oval 39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5634" name="Rectangle 40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300073" name="Rectangle 41"/>
          <p:cNvSpPr>
            <a:spLocks noChangeArrowheads="1"/>
          </p:cNvSpPr>
          <p:nvPr/>
        </p:nvSpPr>
        <p:spPr bwMode="auto">
          <a:xfrm>
            <a:off x="1316038" y="5249863"/>
            <a:ext cx="5761037" cy="5413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ka-GE" sz="2200">
                <a:latin typeface="Arial" charset="0"/>
              </a:rPr>
              <a:t>ძებნის დაბალი სიჩქარე</a:t>
            </a:r>
            <a:endParaRPr lang="ru-RU" sz="22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 autoUpdateAnimBg="0"/>
      <p:bldP spid="300060" grpId="0" animBg="1" autoUpdateAnimBg="0"/>
      <p:bldP spid="300061" grpId="0" animBg="1"/>
      <p:bldP spid="300062" grpId="0" autoUpdateAnimBg="0"/>
      <p:bldP spid="300063" grpId="0" autoUpdateAnimBg="0"/>
      <p:bldP spid="30007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8C2EE665-4F1B-45E7-9313-48F9451FF1FD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10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330754" name="Freeform 2"/>
          <p:cNvSpPr>
            <a:spLocks/>
          </p:cNvSpPr>
          <p:nvPr/>
        </p:nvSpPr>
        <p:spPr bwMode="auto">
          <a:xfrm>
            <a:off x="317500" y="1281113"/>
            <a:ext cx="4064000" cy="4524375"/>
          </a:xfrm>
          <a:custGeom>
            <a:avLst/>
            <a:gdLst>
              <a:gd name="T0" fmla="*/ 2041525 w 2560"/>
              <a:gd name="T1" fmla="*/ 4457700 h 2850"/>
              <a:gd name="T2" fmla="*/ 1987550 w 2560"/>
              <a:gd name="T3" fmla="*/ 4232275 h 2850"/>
              <a:gd name="T4" fmla="*/ 1809750 w 2560"/>
              <a:gd name="T5" fmla="*/ 3927475 h 2850"/>
              <a:gd name="T6" fmla="*/ 1628775 w 2560"/>
              <a:gd name="T7" fmla="*/ 3579813 h 2850"/>
              <a:gd name="T8" fmla="*/ 1568450 w 2560"/>
              <a:gd name="T9" fmla="*/ 3352800 h 2850"/>
              <a:gd name="T10" fmla="*/ 1685925 w 2560"/>
              <a:gd name="T11" fmla="*/ 3082925 h 2850"/>
              <a:gd name="T12" fmla="*/ 1628775 w 2560"/>
              <a:gd name="T13" fmla="*/ 2860675 h 2850"/>
              <a:gd name="T14" fmla="*/ 1444625 w 2560"/>
              <a:gd name="T15" fmla="*/ 2568575 h 2850"/>
              <a:gd name="T16" fmla="*/ 1384300 w 2560"/>
              <a:gd name="T17" fmla="*/ 2270125 h 2850"/>
              <a:gd name="T18" fmla="*/ 1323975 w 2560"/>
              <a:gd name="T19" fmla="*/ 1990725 h 2850"/>
              <a:gd name="T20" fmla="*/ 1136650 w 2560"/>
              <a:gd name="T21" fmla="*/ 2044700 h 2850"/>
              <a:gd name="T22" fmla="*/ 963613 w 2560"/>
              <a:gd name="T23" fmla="*/ 1903413 h 2850"/>
              <a:gd name="T24" fmla="*/ 725487 w 2560"/>
              <a:gd name="T25" fmla="*/ 2011363 h 2850"/>
              <a:gd name="T26" fmla="*/ 441325 w 2560"/>
              <a:gd name="T27" fmla="*/ 2025650 h 2850"/>
              <a:gd name="T28" fmla="*/ 254000 w 2560"/>
              <a:gd name="T29" fmla="*/ 1924050 h 2850"/>
              <a:gd name="T30" fmla="*/ 136525 w 2560"/>
              <a:gd name="T31" fmla="*/ 1851025 h 2850"/>
              <a:gd name="T32" fmla="*/ 111125 w 2560"/>
              <a:gd name="T33" fmla="*/ 1660525 h 2850"/>
              <a:gd name="T34" fmla="*/ 34925 w 2560"/>
              <a:gd name="T35" fmla="*/ 1536700 h 2850"/>
              <a:gd name="T36" fmla="*/ 0 w 2560"/>
              <a:gd name="T37" fmla="*/ 1343025 h 2850"/>
              <a:gd name="T38" fmla="*/ 125413 w 2560"/>
              <a:gd name="T39" fmla="*/ 890588 h 2850"/>
              <a:gd name="T40" fmla="*/ 409575 w 2560"/>
              <a:gd name="T41" fmla="*/ 509588 h 2850"/>
              <a:gd name="T42" fmla="*/ 603250 w 2560"/>
              <a:gd name="T43" fmla="*/ 393700 h 2850"/>
              <a:gd name="T44" fmla="*/ 781050 w 2560"/>
              <a:gd name="T45" fmla="*/ 200025 h 2850"/>
              <a:gd name="T46" fmla="*/ 1054100 w 2560"/>
              <a:gd name="T47" fmla="*/ 139700 h 2850"/>
              <a:gd name="T48" fmla="*/ 1628775 w 2560"/>
              <a:gd name="T49" fmla="*/ 41275 h 2850"/>
              <a:gd name="T50" fmla="*/ 1727200 w 2560"/>
              <a:gd name="T51" fmla="*/ 85725 h 2850"/>
              <a:gd name="T52" fmla="*/ 1701800 w 2560"/>
              <a:gd name="T53" fmla="*/ 244475 h 2850"/>
              <a:gd name="T54" fmla="*/ 1898650 w 2560"/>
              <a:gd name="T55" fmla="*/ 358775 h 2850"/>
              <a:gd name="T56" fmla="*/ 2098675 w 2560"/>
              <a:gd name="T57" fmla="*/ 409575 h 2850"/>
              <a:gd name="T58" fmla="*/ 2149475 w 2560"/>
              <a:gd name="T59" fmla="*/ 279400 h 2850"/>
              <a:gd name="T60" fmla="*/ 2422525 w 2560"/>
              <a:gd name="T61" fmla="*/ 317500 h 2850"/>
              <a:gd name="T62" fmla="*/ 2792412 w 2560"/>
              <a:gd name="T63" fmla="*/ 368300 h 2850"/>
              <a:gd name="T64" fmla="*/ 2978150 w 2560"/>
              <a:gd name="T65" fmla="*/ 498475 h 2850"/>
              <a:gd name="T66" fmla="*/ 2944812 w 2560"/>
              <a:gd name="T67" fmla="*/ 630237 h 2850"/>
              <a:gd name="T68" fmla="*/ 3141662 w 2560"/>
              <a:gd name="T69" fmla="*/ 923925 h 2850"/>
              <a:gd name="T70" fmla="*/ 3217862 w 2560"/>
              <a:gd name="T71" fmla="*/ 1130300 h 2850"/>
              <a:gd name="T72" fmla="*/ 3402013 w 2560"/>
              <a:gd name="T73" fmla="*/ 1370012 h 2850"/>
              <a:gd name="T74" fmla="*/ 3544888 w 2560"/>
              <a:gd name="T75" fmla="*/ 1511300 h 2850"/>
              <a:gd name="T76" fmla="*/ 3740150 w 2560"/>
              <a:gd name="T77" fmla="*/ 1630363 h 2850"/>
              <a:gd name="T78" fmla="*/ 4010025 w 2560"/>
              <a:gd name="T79" fmla="*/ 1778000 h 2850"/>
              <a:gd name="T80" fmla="*/ 3879850 w 2560"/>
              <a:gd name="T81" fmla="*/ 2025650 h 2850"/>
              <a:gd name="T82" fmla="*/ 3609975 w 2560"/>
              <a:gd name="T83" fmla="*/ 2251075 h 2850"/>
              <a:gd name="T84" fmla="*/ 3419475 w 2560"/>
              <a:gd name="T85" fmla="*/ 2476500 h 2850"/>
              <a:gd name="T86" fmla="*/ 3311525 w 2560"/>
              <a:gd name="T87" fmla="*/ 2660650 h 2850"/>
              <a:gd name="T88" fmla="*/ 3346450 w 2560"/>
              <a:gd name="T89" fmla="*/ 2851150 h 2850"/>
              <a:gd name="T90" fmla="*/ 3416300 w 2560"/>
              <a:gd name="T91" fmla="*/ 3048000 h 2850"/>
              <a:gd name="T92" fmla="*/ 3392488 w 2560"/>
              <a:gd name="T93" fmla="*/ 3340100 h 2850"/>
              <a:gd name="T94" fmla="*/ 3195637 w 2560"/>
              <a:gd name="T95" fmla="*/ 3459163 h 2850"/>
              <a:gd name="T96" fmla="*/ 3019425 w 2560"/>
              <a:gd name="T97" fmla="*/ 3632200 h 2850"/>
              <a:gd name="T98" fmla="*/ 3054350 w 2560"/>
              <a:gd name="T99" fmla="*/ 3906838 h 2850"/>
              <a:gd name="T100" fmla="*/ 2886075 w 2560"/>
              <a:gd name="T101" fmla="*/ 4102100 h 2850"/>
              <a:gd name="T102" fmla="*/ 2689225 w 2560"/>
              <a:gd name="T103" fmla="*/ 4337050 h 2850"/>
              <a:gd name="T104" fmla="*/ 2346325 w 2560"/>
              <a:gd name="T105" fmla="*/ 4460875 h 2850"/>
              <a:gd name="T106" fmla="*/ 2136775 w 2560"/>
              <a:gd name="T107" fmla="*/ 4524375 h 2850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560"/>
              <a:gd name="T163" fmla="*/ 0 h 2850"/>
              <a:gd name="T164" fmla="*/ 2560 w 2560"/>
              <a:gd name="T165" fmla="*/ 2850 h 2850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560" h="2850">
                <a:moveTo>
                  <a:pt x="1346" y="2850"/>
                </a:moveTo>
                <a:lnTo>
                  <a:pt x="1286" y="2808"/>
                </a:lnTo>
                <a:lnTo>
                  <a:pt x="1310" y="2742"/>
                </a:lnTo>
                <a:lnTo>
                  <a:pt x="1252" y="2666"/>
                </a:lnTo>
                <a:lnTo>
                  <a:pt x="1180" y="2590"/>
                </a:lnTo>
                <a:lnTo>
                  <a:pt x="1140" y="2474"/>
                </a:lnTo>
                <a:lnTo>
                  <a:pt x="1100" y="2350"/>
                </a:lnTo>
                <a:lnTo>
                  <a:pt x="1026" y="2255"/>
                </a:lnTo>
                <a:lnTo>
                  <a:pt x="982" y="2202"/>
                </a:lnTo>
                <a:lnTo>
                  <a:pt x="988" y="2112"/>
                </a:lnTo>
                <a:lnTo>
                  <a:pt x="996" y="2016"/>
                </a:lnTo>
                <a:lnTo>
                  <a:pt x="1062" y="1942"/>
                </a:lnTo>
                <a:lnTo>
                  <a:pt x="1020" y="1890"/>
                </a:lnTo>
                <a:lnTo>
                  <a:pt x="1026" y="1802"/>
                </a:lnTo>
                <a:lnTo>
                  <a:pt x="974" y="1694"/>
                </a:lnTo>
                <a:lnTo>
                  <a:pt x="910" y="1618"/>
                </a:lnTo>
                <a:lnTo>
                  <a:pt x="840" y="1522"/>
                </a:lnTo>
                <a:lnTo>
                  <a:pt x="872" y="1430"/>
                </a:lnTo>
                <a:lnTo>
                  <a:pt x="895" y="1322"/>
                </a:lnTo>
                <a:lnTo>
                  <a:pt x="834" y="1254"/>
                </a:lnTo>
                <a:lnTo>
                  <a:pt x="790" y="1284"/>
                </a:lnTo>
                <a:lnTo>
                  <a:pt x="716" y="1288"/>
                </a:lnTo>
                <a:lnTo>
                  <a:pt x="690" y="1213"/>
                </a:lnTo>
                <a:lnTo>
                  <a:pt x="607" y="1199"/>
                </a:lnTo>
                <a:lnTo>
                  <a:pt x="491" y="1233"/>
                </a:lnTo>
                <a:lnTo>
                  <a:pt x="457" y="1267"/>
                </a:lnTo>
                <a:lnTo>
                  <a:pt x="347" y="1233"/>
                </a:lnTo>
                <a:lnTo>
                  <a:pt x="278" y="1276"/>
                </a:lnTo>
                <a:lnTo>
                  <a:pt x="214" y="1274"/>
                </a:lnTo>
                <a:lnTo>
                  <a:pt x="160" y="1212"/>
                </a:lnTo>
                <a:lnTo>
                  <a:pt x="127" y="1171"/>
                </a:lnTo>
                <a:lnTo>
                  <a:pt x="86" y="1166"/>
                </a:lnTo>
                <a:lnTo>
                  <a:pt x="86" y="1117"/>
                </a:lnTo>
                <a:lnTo>
                  <a:pt x="70" y="1046"/>
                </a:lnTo>
                <a:lnTo>
                  <a:pt x="40" y="1028"/>
                </a:lnTo>
                <a:lnTo>
                  <a:pt x="22" y="968"/>
                </a:lnTo>
                <a:lnTo>
                  <a:pt x="0" y="940"/>
                </a:lnTo>
                <a:lnTo>
                  <a:pt x="0" y="846"/>
                </a:lnTo>
                <a:lnTo>
                  <a:pt x="59" y="753"/>
                </a:lnTo>
                <a:cubicBezTo>
                  <a:pt x="81" y="667"/>
                  <a:pt x="79" y="669"/>
                  <a:pt x="79" y="561"/>
                </a:cubicBezTo>
                <a:lnTo>
                  <a:pt x="169" y="431"/>
                </a:lnTo>
                <a:lnTo>
                  <a:pt x="258" y="321"/>
                </a:lnTo>
                <a:lnTo>
                  <a:pt x="338" y="306"/>
                </a:lnTo>
                <a:lnTo>
                  <a:pt x="380" y="248"/>
                </a:lnTo>
                <a:lnTo>
                  <a:pt x="422" y="170"/>
                </a:lnTo>
                <a:lnTo>
                  <a:pt x="492" y="126"/>
                </a:lnTo>
                <a:lnTo>
                  <a:pt x="562" y="56"/>
                </a:lnTo>
                <a:lnTo>
                  <a:pt x="664" y="88"/>
                </a:lnTo>
                <a:lnTo>
                  <a:pt x="822" y="26"/>
                </a:lnTo>
                <a:lnTo>
                  <a:pt x="1026" y="26"/>
                </a:lnTo>
                <a:lnTo>
                  <a:pt x="1066" y="0"/>
                </a:lnTo>
                <a:lnTo>
                  <a:pt x="1088" y="54"/>
                </a:lnTo>
                <a:lnTo>
                  <a:pt x="1042" y="116"/>
                </a:lnTo>
                <a:lnTo>
                  <a:pt x="1072" y="154"/>
                </a:lnTo>
                <a:lnTo>
                  <a:pt x="1183" y="184"/>
                </a:lnTo>
                <a:lnTo>
                  <a:pt x="1196" y="226"/>
                </a:lnTo>
                <a:lnTo>
                  <a:pt x="1266" y="239"/>
                </a:lnTo>
                <a:lnTo>
                  <a:pt x="1322" y="258"/>
                </a:lnTo>
                <a:lnTo>
                  <a:pt x="1358" y="240"/>
                </a:lnTo>
                <a:lnTo>
                  <a:pt x="1354" y="176"/>
                </a:lnTo>
                <a:lnTo>
                  <a:pt x="1428" y="154"/>
                </a:lnTo>
                <a:lnTo>
                  <a:pt x="1526" y="200"/>
                </a:lnTo>
                <a:lnTo>
                  <a:pt x="1634" y="230"/>
                </a:lnTo>
                <a:lnTo>
                  <a:pt x="1759" y="232"/>
                </a:lnTo>
                <a:lnTo>
                  <a:pt x="1897" y="225"/>
                </a:lnTo>
                <a:lnTo>
                  <a:pt x="1876" y="314"/>
                </a:lnTo>
                <a:lnTo>
                  <a:pt x="1856" y="350"/>
                </a:lnTo>
                <a:lnTo>
                  <a:pt x="1855" y="397"/>
                </a:lnTo>
                <a:lnTo>
                  <a:pt x="1920" y="514"/>
                </a:lnTo>
                <a:lnTo>
                  <a:pt x="1979" y="582"/>
                </a:lnTo>
                <a:lnTo>
                  <a:pt x="1986" y="660"/>
                </a:lnTo>
                <a:lnTo>
                  <a:pt x="2027" y="712"/>
                </a:lnTo>
                <a:lnTo>
                  <a:pt x="2090" y="796"/>
                </a:lnTo>
                <a:lnTo>
                  <a:pt x="2143" y="863"/>
                </a:lnTo>
                <a:lnTo>
                  <a:pt x="2171" y="890"/>
                </a:lnTo>
                <a:lnTo>
                  <a:pt x="2233" y="952"/>
                </a:lnTo>
                <a:lnTo>
                  <a:pt x="2280" y="1016"/>
                </a:lnTo>
                <a:lnTo>
                  <a:pt x="2356" y="1027"/>
                </a:lnTo>
                <a:lnTo>
                  <a:pt x="2560" y="966"/>
                </a:lnTo>
                <a:lnTo>
                  <a:pt x="2526" y="1120"/>
                </a:lnTo>
                <a:lnTo>
                  <a:pt x="2459" y="1288"/>
                </a:lnTo>
                <a:lnTo>
                  <a:pt x="2444" y="1276"/>
                </a:lnTo>
                <a:lnTo>
                  <a:pt x="2342" y="1370"/>
                </a:lnTo>
                <a:lnTo>
                  <a:pt x="2274" y="1418"/>
                </a:lnTo>
                <a:lnTo>
                  <a:pt x="2233" y="1494"/>
                </a:lnTo>
                <a:lnTo>
                  <a:pt x="2154" y="1560"/>
                </a:lnTo>
                <a:lnTo>
                  <a:pt x="2114" y="1612"/>
                </a:lnTo>
                <a:lnTo>
                  <a:pt x="2086" y="1676"/>
                </a:lnTo>
                <a:lnTo>
                  <a:pt x="2078" y="1718"/>
                </a:lnTo>
                <a:lnTo>
                  <a:pt x="2108" y="1796"/>
                </a:lnTo>
                <a:lnTo>
                  <a:pt x="2114" y="1872"/>
                </a:lnTo>
                <a:lnTo>
                  <a:pt x="2152" y="1920"/>
                </a:lnTo>
                <a:lnTo>
                  <a:pt x="2130" y="2016"/>
                </a:lnTo>
                <a:lnTo>
                  <a:pt x="2137" y="2104"/>
                </a:lnTo>
                <a:cubicBezTo>
                  <a:pt x="2105" y="2127"/>
                  <a:pt x="2075" y="2153"/>
                  <a:pt x="2041" y="2173"/>
                </a:cubicBezTo>
                <a:cubicBezTo>
                  <a:pt x="2033" y="2178"/>
                  <a:pt x="2021" y="2174"/>
                  <a:pt x="2013" y="2179"/>
                </a:cubicBezTo>
                <a:cubicBezTo>
                  <a:pt x="1997" y="2188"/>
                  <a:pt x="1979" y="2221"/>
                  <a:pt x="1979" y="2221"/>
                </a:cubicBezTo>
                <a:lnTo>
                  <a:pt x="1902" y="2288"/>
                </a:lnTo>
                <a:lnTo>
                  <a:pt x="1945" y="2406"/>
                </a:lnTo>
                <a:lnTo>
                  <a:pt x="1924" y="2461"/>
                </a:lnTo>
                <a:lnTo>
                  <a:pt x="1812" y="2512"/>
                </a:lnTo>
                <a:lnTo>
                  <a:pt x="1818" y="2584"/>
                </a:lnTo>
                <a:lnTo>
                  <a:pt x="1754" y="2654"/>
                </a:lnTo>
                <a:lnTo>
                  <a:pt x="1694" y="2732"/>
                </a:lnTo>
                <a:lnTo>
                  <a:pt x="1596" y="2812"/>
                </a:lnTo>
                <a:lnTo>
                  <a:pt x="1478" y="2810"/>
                </a:lnTo>
                <a:lnTo>
                  <a:pt x="1430" y="2834"/>
                </a:lnTo>
                <a:lnTo>
                  <a:pt x="1346" y="2850"/>
                </a:lnTo>
                <a:close/>
              </a:path>
            </a:pathLst>
          </a:cu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26628" name="Line 3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ორობითი ძებნა</a:t>
            </a:r>
            <a:endParaRPr lang="ru-RU" sz="3000" b="1">
              <a:latin typeface="Arial" charset="0"/>
            </a:endParaRPr>
          </a:p>
        </p:txBody>
      </p:sp>
      <p:sp>
        <p:nvSpPr>
          <p:cNvPr id="330758" name="Freeform 6"/>
          <p:cNvSpPr>
            <a:spLocks/>
          </p:cNvSpPr>
          <p:nvPr/>
        </p:nvSpPr>
        <p:spPr bwMode="auto">
          <a:xfrm>
            <a:off x="1568450" y="2619375"/>
            <a:ext cx="3049588" cy="3452813"/>
          </a:xfrm>
          <a:custGeom>
            <a:avLst/>
            <a:gdLst>
              <a:gd name="T0" fmla="*/ 17563 w 1910"/>
              <a:gd name="T1" fmla="*/ 1374579 h 2110"/>
              <a:gd name="T2" fmla="*/ 2241687 w 1910"/>
              <a:gd name="T3" fmla="*/ 0 h 2110"/>
              <a:gd name="T4" fmla="*/ 3049588 w 1910"/>
              <a:gd name="T5" fmla="*/ 96548 h 2110"/>
              <a:gd name="T6" fmla="*/ 2880344 w 1910"/>
              <a:gd name="T7" fmla="*/ 3336628 h 2110"/>
              <a:gd name="T8" fmla="*/ 0 w 1910"/>
              <a:gd name="T9" fmla="*/ 3452813 h 2110"/>
              <a:gd name="T10" fmla="*/ 17563 w 1910"/>
              <a:gd name="T11" fmla="*/ 1374579 h 21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10"/>
              <a:gd name="T19" fmla="*/ 0 h 2110"/>
              <a:gd name="T20" fmla="*/ 1910 w 1910"/>
              <a:gd name="T21" fmla="*/ 2110 h 211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10" h="2110">
                <a:moveTo>
                  <a:pt x="11" y="840"/>
                </a:moveTo>
                <a:lnTo>
                  <a:pt x="1404" y="0"/>
                </a:lnTo>
                <a:lnTo>
                  <a:pt x="1910" y="59"/>
                </a:lnTo>
                <a:lnTo>
                  <a:pt x="1804" y="2039"/>
                </a:lnTo>
                <a:lnTo>
                  <a:pt x="0" y="2110"/>
                </a:lnTo>
                <a:lnTo>
                  <a:pt x="11" y="840"/>
                </a:lnTo>
                <a:close/>
              </a:path>
            </a:pathLst>
          </a:custGeom>
          <a:solidFill>
            <a:schemeClr val="bg1">
              <a:alpha val="81960"/>
            </a:schemeClr>
          </a:solidFill>
          <a:ln w="12700">
            <a:noFill/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ru-RU"/>
          </a:p>
        </p:txBody>
      </p:sp>
      <p:sp>
        <p:nvSpPr>
          <p:cNvPr id="330759" name="Freeform 7"/>
          <p:cNvSpPr>
            <a:spLocks/>
          </p:cNvSpPr>
          <p:nvPr/>
        </p:nvSpPr>
        <p:spPr bwMode="auto">
          <a:xfrm>
            <a:off x="793750" y="985838"/>
            <a:ext cx="3367088" cy="2205037"/>
          </a:xfrm>
          <a:custGeom>
            <a:avLst/>
            <a:gdLst>
              <a:gd name="T0" fmla="*/ 0 w 2121"/>
              <a:gd name="T1" fmla="*/ 739775 h 1389"/>
              <a:gd name="T2" fmla="*/ 2509837 w 2121"/>
              <a:gd name="T3" fmla="*/ 2205037 h 1389"/>
              <a:gd name="T4" fmla="*/ 3367088 w 2121"/>
              <a:gd name="T5" fmla="*/ 1558924 h 1389"/>
              <a:gd name="T6" fmla="*/ 2967037 w 2121"/>
              <a:gd name="T7" fmla="*/ 923925 h 1389"/>
              <a:gd name="T8" fmla="*/ 2435225 w 2121"/>
              <a:gd name="T9" fmla="*/ 177800 h 1389"/>
              <a:gd name="T10" fmla="*/ 1109663 w 2121"/>
              <a:gd name="T11" fmla="*/ 0 h 1389"/>
              <a:gd name="T12" fmla="*/ 0 w 2121"/>
              <a:gd name="T13" fmla="*/ 9525 h 1389"/>
              <a:gd name="T14" fmla="*/ 0 w 2121"/>
              <a:gd name="T15" fmla="*/ 739775 h 138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21"/>
              <a:gd name="T25" fmla="*/ 0 h 1389"/>
              <a:gd name="T26" fmla="*/ 2121 w 2121"/>
              <a:gd name="T27" fmla="*/ 1389 h 138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21" h="1389">
                <a:moveTo>
                  <a:pt x="0" y="466"/>
                </a:moveTo>
                <a:lnTo>
                  <a:pt x="1581" y="1389"/>
                </a:lnTo>
                <a:lnTo>
                  <a:pt x="2121" y="982"/>
                </a:lnTo>
                <a:lnTo>
                  <a:pt x="1869" y="582"/>
                </a:lnTo>
                <a:lnTo>
                  <a:pt x="1534" y="112"/>
                </a:lnTo>
                <a:lnTo>
                  <a:pt x="699" y="0"/>
                </a:lnTo>
                <a:lnTo>
                  <a:pt x="0" y="6"/>
                </a:lnTo>
                <a:lnTo>
                  <a:pt x="0" y="466"/>
                </a:lnTo>
                <a:close/>
              </a:path>
            </a:pathLst>
          </a:custGeom>
          <a:solidFill>
            <a:schemeClr val="bg1">
              <a:alpha val="81960"/>
            </a:schemeClr>
          </a:solidFill>
          <a:ln w="12700">
            <a:noFill/>
            <a:round/>
            <a:headEnd/>
            <a:tailEnd type="none" w="lg" len="lg"/>
          </a:ln>
        </p:spPr>
        <p:txBody>
          <a:bodyPr wrap="none" lIns="90000" tIns="46800" rIns="90000" bIns="46800" anchor="ctr"/>
          <a:lstStyle/>
          <a:p>
            <a:endParaRPr lang="ru-RU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 flipH="1">
            <a:off x="668338" y="1414463"/>
            <a:ext cx="2492375" cy="1651000"/>
            <a:chOff x="1483" y="1317"/>
            <a:chExt cx="1570" cy="1040"/>
          </a:xfrm>
        </p:grpSpPr>
        <p:sp>
          <p:nvSpPr>
            <p:cNvPr id="26649" name="Rectangle 9"/>
            <p:cNvSpPr>
              <a:spLocks noChangeArrowheads="1"/>
            </p:cNvSpPr>
            <p:nvPr/>
          </p:nvSpPr>
          <p:spPr bwMode="auto">
            <a:xfrm>
              <a:off x="2123" y="1685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0" name="Rectangle 10"/>
            <p:cNvSpPr>
              <a:spLocks noChangeArrowheads="1"/>
            </p:cNvSpPr>
            <p:nvPr/>
          </p:nvSpPr>
          <p:spPr bwMode="auto">
            <a:xfrm>
              <a:off x="2541" y="1438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1" name="Rectangle 11"/>
            <p:cNvSpPr>
              <a:spLocks noChangeArrowheads="1"/>
            </p:cNvSpPr>
            <p:nvPr/>
          </p:nvSpPr>
          <p:spPr bwMode="auto">
            <a:xfrm>
              <a:off x="2436" y="1499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2" name="Rectangle 12"/>
            <p:cNvSpPr>
              <a:spLocks noChangeArrowheads="1"/>
            </p:cNvSpPr>
            <p:nvPr/>
          </p:nvSpPr>
          <p:spPr bwMode="auto">
            <a:xfrm>
              <a:off x="2751" y="1317"/>
              <a:ext cx="42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3" name="Rectangle 13"/>
            <p:cNvSpPr>
              <a:spLocks noChangeArrowheads="1"/>
            </p:cNvSpPr>
            <p:nvPr/>
          </p:nvSpPr>
          <p:spPr bwMode="auto">
            <a:xfrm>
              <a:off x="2331" y="1558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4" name="Rectangle 14"/>
            <p:cNvSpPr>
              <a:spLocks noChangeArrowheads="1"/>
            </p:cNvSpPr>
            <p:nvPr/>
          </p:nvSpPr>
          <p:spPr bwMode="auto">
            <a:xfrm>
              <a:off x="2646" y="1375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5" name="Rectangle 15"/>
            <p:cNvSpPr>
              <a:spLocks noChangeArrowheads="1"/>
            </p:cNvSpPr>
            <p:nvPr/>
          </p:nvSpPr>
          <p:spPr bwMode="auto">
            <a:xfrm>
              <a:off x="1912" y="1810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6" name="Rectangle 16"/>
            <p:cNvSpPr>
              <a:spLocks noChangeArrowheads="1"/>
            </p:cNvSpPr>
            <p:nvPr/>
          </p:nvSpPr>
          <p:spPr bwMode="auto">
            <a:xfrm>
              <a:off x="2228" y="1622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7" name="Rectangle 17"/>
            <p:cNvSpPr>
              <a:spLocks noChangeArrowheads="1"/>
            </p:cNvSpPr>
            <p:nvPr/>
          </p:nvSpPr>
          <p:spPr bwMode="auto">
            <a:xfrm>
              <a:off x="1807" y="1866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8" name="Rectangle 18"/>
            <p:cNvSpPr>
              <a:spLocks noChangeArrowheads="1"/>
            </p:cNvSpPr>
            <p:nvPr/>
          </p:nvSpPr>
          <p:spPr bwMode="auto">
            <a:xfrm>
              <a:off x="2017" y="1747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59" name="Rectangle 19"/>
            <p:cNvSpPr>
              <a:spLocks noChangeArrowheads="1"/>
            </p:cNvSpPr>
            <p:nvPr/>
          </p:nvSpPr>
          <p:spPr bwMode="auto">
            <a:xfrm>
              <a:off x="1705" y="1920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60" name="Rectangle 20" descr="Орех"/>
            <p:cNvSpPr>
              <a:spLocks noChangeArrowheads="1"/>
            </p:cNvSpPr>
            <p:nvPr/>
          </p:nvSpPr>
          <p:spPr bwMode="auto">
            <a:xfrm rot="-1920668">
              <a:off x="1483" y="1689"/>
              <a:ext cx="1570" cy="36"/>
            </a:xfrm>
            <a:prstGeom prst="rect">
              <a:avLst/>
            </a:prstGeom>
            <a:blipFill dpi="0" rotWithShape="1">
              <a:blip r:embed="rId4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61" name="Rectangle 21" descr="Орех"/>
            <p:cNvSpPr>
              <a:spLocks noChangeArrowheads="1"/>
            </p:cNvSpPr>
            <p:nvPr/>
          </p:nvSpPr>
          <p:spPr bwMode="auto">
            <a:xfrm rot="-1920668">
              <a:off x="1518" y="1909"/>
              <a:ext cx="1532" cy="34"/>
            </a:xfrm>
            <a:prstGeom prst="rect">
              <a:avLst/>
            </a:prstGeom>
            <a:blipFill dpi="0" rotWithShape="1">
              <a:blip r:embed="rId4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387475" y="2151063"/>
            <a:ext cx="2492375" cy="1651000"/>
            <a:chOff x="1483" y="1317"/>
            <a:chExt cx="1570" cy="1040"/>
          </a:xfrm>
        </p:grpSpPr>
        <p:sp>
          <p:nvSpPr>
            <p:cNvPr id="26636" name="Rectangle 23"/>
            <p:cNvSpPr>
              <a:spLocks noChangeArrowheads="1"/>
            </p:cNvSpPr>
            <p:nvPr/>
          </p:nvSpPr>
          <p:spPr bwMode="auto">
            <a:xfrm>
              <a:off x="2123" y="1685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37" name="Rectangle 24"/>
            <p:cNvSpPr>
              <a:spLocks noChangeArrowheads="1"/>
            </p:cNvSpPr>
            <p:nvPr/>
          </p:nvSpPr>
          <p:spPr bwMode="auto">
            <a:xfrm>
              <a:off x="2541" y="1438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38" name="Rectangle 25"/>
            <p:cNvSpPr>
              <a:spLocks noChangeArrowheads="1"/>
            </p:cNvSpPr>
            <p:nvPr/>
          </p:nvSpPr>
          <p:spPr bwMode="auto">
            <a:xfrm>
              <a:off x="2436" y="1499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39" name="Rectangle 26"/>
            <p:cNvSpPr>
              <a:spLocks noChangeArrowheads="1"/>
            </p:cNvSpPr>
            <p:nvPr/>
          </p:nvSpPr>
          <p:spPr bwMode="auto">
            <a:xfrm>
              <a:off x="2751" y="1317"/>
              <a:ext cx="42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0" name="Rectangle 27"/>
            <p:cNvSpPr>
              <a:spLocks noChangeArrowheads="1"/>
            </p:cNvSpPr>
            <p:nvPr/>
          </p:nvSpPr>
          <p:spPr bwMode="auto">
            <a:xfrm>
              <a:off x="2331" y="1558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1" name="Rectangle 28"/>
            <p:cNvSpPr>
              <a:spLocks noChangeArrowheads="1"/>
            </p:cNvSpPr>
            <p:nvPr/>
          </p:nvSpPr>
          <p:spPr bwMode="auto">
            <a:xfrm>
              <a:off x="2646" y="1375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2" name="Rectangle 29"/>
            <p:cNvSpPr>
              <a:spLocks noChangeArrowheads="1"/>
            </p:cNvSpPr>
            <p:nvPr/>
          </p:nvSpPr>
          <p:spPr bwMode="auto">
            <a:xfrm>
              <a:off x="1912" y="1810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3" name="Rectangle 30"/>
            <p:cNvSpPr>
              <a:spLocks noChangeArrowheads="1"/>
            </p:cNvSpPr>
            <p:nvPr/>
          </p:nvSpPr>
          <p:spPr bwMode="auto">
            <a:xfrm>
              <a:off x="2228" y="1622"/>
              <a:ext cx="41" cy="436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4" name="Rectangle 31"/>
            <p:cNvSpPr>
              <a:spLocks noChangeArrowheads="1"/>
            </p:cNvSpPr>
            <p:nvPr/>
          </p:nvSpPr>
          <p:spPr bwMode="auto">
            <a:xfrm>
              <a:off x="1807" y="1866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5" name="Rectangle 32"/>
            <p:cNvSpPr>
              <a:spLocks noChangeArrowheads="1"/>
            </p:cNvSpPr>
            <p:nvPr/>
          </p:nvSpPr>
          <p:spPr bwMode="auto">
            <a:xfrm>
              <a:off x="2017" y="1747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6" name="Rectangle 33"/>
            <p:cNvSpPr>
              <a:spLocks noChangeArrowheads="1"/>
            </p:cNvSpPr>
            <p:nvPr/>
          </p:nvSpPr>
          <p:spPr bwMode="auto">
            <a:xfrm>
              <a:off x="1705" y="1920"/>
              <a:ext cx="41" cy="437"/>
            </a:xfrm>
            <a:prstGeom prst="rect">
              <a:avLst/>
            </a:prstGeom>
            <a:blipFill dpi="0" rotWithShape="1">
              <a:blip r:embed="rId3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7" name="Rectangle 34" descr="Орех"/>
            <p:cNvSpPr>
              <a:spLocks noChangeArrowheads="1"/>
            </p:cNvSpPr>
            <p:nvPr/>
          </p:nvSpPr>
          <p:spPr bwMode="auto">
            <a:xfrm rot="-1920668">
              <a:off x="1483" y="1689"/>
              <a:ext cx="1570" cy="36"/>
            </a:xfrm>
            <a:prstGeom prst="rect">
              <a:avLst/>
            </a:prstGeom>
            <a:blipFill dpi="0" rotWithShape="1">
              <a:blip r:embed="rId4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6648" name="Rectangle 35" descr="Орех"/>
            <p:cNvSpPr>
              <a:spLocks noChangeArrowheads="1"/>
            </p:cNvSpPr>
            <p:nvPr/>
          </p:nvSpPr>
          <p:spPr bwMode="auto">
            <a:xfrm rot="-1920668">
              <a:off x="1518" y="1909"/>
              <a:ext cx="1532" cy="34"/>
            </a:xfrm>
            <a:prstGeom prst="rect">
              <a:avLst/>
            </a:prstGeom>
            <a:blipFill dpi="0" rotWithShape="1">
              <a:blip r:embed="rId4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46800" rIns="90000" bIns="46800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330906" name="Rectangle 154"/>
          <p:cNvSpPr>
            <a:spLocks noChangeArrowheads="1"/>
          </p:cNvSpPr>
          <p:nvPr/>
        </p:nvSpPr>
        <p:spPr bwMode="auto">
          <a:xfrm>
            <a:off x="4592638" y="1933575"/>
            <a:ext cx="4165600" cy="3416300"/>
          </a:xfrm>
          <a:prstGeom prst="rect">
            <a:avLst/>
          </a:prstGeom>
          <a:solidFill>
            <a:srgbClr val="E6E6E6"/>
          </a:solidFill>
          <a:ln w="25400">
            <a:noFill/>
            <a:miter lim="800000"/>
            <a:headEnd/>
            <a:tailEnd type="none" w="lg" len="lg"/>
          </a:ln>
          <a:effectLst>
            <a:outerShdw dist="53882" dir="2700000" algn="ctr" rotWithShape="0">
              <a:schemeClr val="tx1">
                <a:alpha val="50000"/>
              </a:schemeClr>
            </a:outerShdw>
          </a:effectLst>
        </p:spPr>
        <p:txBody>
          <a:bodyPr lIns="90000" tIns="46800" rIns="90000" bIns="46800">
            <a:spAutoFit/>
          </a:bodyPr>
          <a:lstStyle/>
          <a:p>
            <a:pPr marL="342900" indent="-342900">
              <a:spcBef>
                <a:spcPct val="30000"/>
              </a:spcBef>
              <a:buFontTx/>
              <a:buAutoNum type="arabicPeriod"/>
              <a:defRPr/>
            </a:pPr>
            <a:r>
              <a:rPr lang="ka-GE" sz="2000">
                <a:latin typeface="Arial" charset="0"/>
              </a:rPr>
              <a:t>საძიებო არე გავყოთ ორ ტოლ ნაწილად</a:t>
            </a:r>
            <a:r>
              <a:rPr lang="ru-RU" sz="2000">
                <a:latin typeface="Arial" charset="0"/>
              </a:rPr>
              <a:t>.</a:t>
            </a:r>
            <a:endParaRPr lang="en-US" sz="2000">
              <a:latin typeface="Arial" charset="0"/>
            </a:endParaRPr>
          </a:p>
          <a:p>
            <a:pPr marL="342900" indent="-342900">
              <a:spcBef>
                <a:spcPct val="30000"/>
              </a:spcBef>
              <a:buFontTx/>
              <a:buAutoNum type="arabicPeriod"/>
              <a:defRPr/>
            </a:pPr>
            <a:r>
              <a:rPr lang="ka-GE" sz="2000">
                <a:latin typeface="Arial" charset="0"/>
              </a:rPr>
              <a:t>განვსაზღვროთ, თუ რომელ ნახევარშია ჩვენთვის საჭირო ობიექტი.</a:t>
            </a:r>
            <a:r>
              <a:rPr lang="ru-RU" sz="2000">
                <a:latin typeface="Arial" charset="0"/>
              </a:rPr>
              <a:t> </a:t>
            </a:r>
          </a:p>
          <a:p>
            <a:pPr marL="342900" indent="-342900">
              <a:spcBef>
                <a:spcPct val="30000"/>
              </a:spcBef>
              <a:buFontTx/>
              <a:buAutoNum type="arabicPeriod"/>
              <a:defRPr/>
            </a:pPr>
            <a:r>
              <a:rPr lang="ka-GE" sz="2000">
                <a:latin typeface="Arial" charset="0"/>
              </a:rPr>
              <a:t>ამ ნახევრისათვის გადავიდეთ ისევ პირველ ნაბიჯზე</a:t>
            </a:r>
            <a:r>
              <a:rPr lang="ru-RU" sz="2000">
                <a:latin typeface="Arial" charset="0"/>
              </a:rPr>
              <a:t>.</a:t>
            </a:r>
          </a:p>
          <a:p>
            <a:pPr marL="342900" indent="-342900">
              <a:spcBef>
                <a:spcPct val="30000"/>
              </a:spcBef>
              <a:buFontTx/>
              <a:buAutoNum type="arabicPeriod"/>
              <a:defRPr/>
            </a:pPr>
            <a:r>
              <a:rPr lang="ka-GE" sz="2000">
                <a:latin typeface="Arial" charset="0"/>
              </a:rPr>
              <a:t>გავიმეოროთ 1-3 ნაბიჯი სანამ არ ”დავიჭერთ” საჭირო ობიექტს.</a:t>
            </a:r>
            <a:endParaRPr lang="ru-RU" sz="20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 animBg="1"/>
      <p:bldP spid="330758" grpId="0" animBg="1"/>
      <p:bldP spid="330759" grpId="0" animBg="1"/>
      <p:bldP spid="33090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78DA9A7F-140B-4E1C-B7C8-76AF028EB57B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11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867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ძებნა ინდექსების მიხედვით</a:t>
            </a:r>
            <a:endParaRPr lang="ru-RU" sz="3000" b="1">
              <a:latin typeface="Arial" charset="0"/>
            </a:endParaRPr>
          </a:p>
        </p:txBody>
      </p:sp>
      <p:sp>
        <p:nvSpPr>
          <p:cNvPr id="306180" name="Rectangle 4"/>
          <p:cNvSpPr>
            <a:spLocks noChangeArrowheads="1"/>
          </p:cNvSpPr>
          <p:nvPr/>
        </p:nvSpPr>
        <p:spPr bwMode="auto">
          <a:xfrm>
            <a:off x="355600" y="852488"/>
            <a:ext cx="8555038" cy="10779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400" b="1">
                <a:solidFill>
                  <a:srgbClr val="4040C0"/>
                </a:solidFill>
                <a:latin typeface="Arial" charset="0"/>
              </a:rPr>
              <a:t>ინდექსი</a:t>
            </a:r>
            <a:r>
              <a:rPr lang="ru-RU" sz="2400">
                <a:latin typeface="Arial" charset="0"/>
              </a:rPr>
              <a:t>–</a:t>
            </a:r>
            <a:r>
              <a:rPr lang="ka-GE" sz="2000">
                <a:latin typeface="Arial" charset="0"/>
              </a:rPr>
              <a:t>ეს არის დამხმარე ცხრილი, რომლის დანიშნულება მდგომარეობს არჩეული სვეტის მიხედვით ძირითად ცხრილში ძიების სწრაფად განხორციელებაში</a:t>
            </a:r>
            <a:r>
              <a:rPr lang="ru-RU" sz="2000">
                <a:latin typeface="Arial" charset="0"/>
              </a:rPr>
              <a:t>.</a:t>
            </a:r>
            <a:r>
              <a:rPr lang="ru-RU" sz="2400">
                <a:latin typeface="Arial" charset="0"/>
              </a:rPr>
              <a:t> </a:t>
            </a:r>
          </a:p>
        </p:txBody>
      </p:sp>
      <p:sp>
        <p:nvSpPr>
          <p:cNvPr id="306182" name="Rectangle 6"/>
          <p:cNvSpPr>
            <a:spLocks noChangeArrowheads="1"/>
          </p:cNvSpPr>
          <p:nvPr/>
        </p:nvSpPr>
        <p:spPr bwMode="auto">
          <a:xfrm>
            <a:off x="303213" y="1984375"/>
            <a:ext cx="1366837" cy="4572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r>
              <a:rPr lang="ka-GE" sz="2400" b="1">
                <a:solidFill>
                  <a:srgbClr val="4040C0"/>
                </a:solidFill>
                <a:latin typeface="Arial" charset="0"/>
              </a:rPr>
              <a:t>ცხრილი</a:t>
            </a:r>
            <a:endParaRPr lang="ru-RU" sz="2400" b="1">
              <a:solidFill>
                <a:srgbClr val="4040C0"/>
              </a:solidFill>
              <a:latin typeface="Arial" charset="0"/>
            </a:endParaRPr>
          </a:p>
        </p:txBody>
      </p:sp>
      <p:graphicFrame>
        <p:nvGraphicFramePr>
          <p:cNvPr id="306413" name="Group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773638"/>
              </p:ext>
            </p:extLst>
          </p:nvPr>
        </p:nvGraphicFramePr>
        <p:xfrm>
          <a:off x="2267744" y="2306320"/>
          <a:ext cx="5475288" cy="1463040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4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0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ნომერი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თარიღი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რაოდენობა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02.02.2006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კივი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01.11.2006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ბანანი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12.04.2006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ფორთოხალი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6238" name="Rectangle 62"/>
          <p:cNvSpPr>
            <a:spLocks noChangeArrowheads="1"/>
          </p:cNvSpPr>
          <p:nvPr/>
        </p:nvSpPr>
        <p:spPr bwMode="auto">
          <a:xfrm>
            <a:off x="330200" y="3773488"/>
            <a:ext cx="2308225" cy="8001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r>
              <a:rPr lang="ka-GE" sz="2400" b="1">
                <a:solidFill>
                  <a:srgbClr val="4040C0"/>
                </a:solidFill>
                <a:latin typeface="Arial" charset="0"/>
              </a:rPr>
              <a:t>ინდექსები</a:t>
            </a:r>
            <a:r>
              <a:rPr lang="ru-RU" sz="2400" b="1">
                <a:solidFill>
                  <a:srgbClr val="4040C0"/>
                </a:solidFill>
                <a:latin typeface="Arial" charset="0"/>
              </a:rPr>
              <a:t>: </a:t>
            </a:r>
          </a:p>
          <a:p>
            <a:pPr>
              <a:spcBef>
                <a:spcPct val="25000"/>
              </a:spcBef>
            </a:pPr>
            <a:r>
              <a:rPr lang="ka-GE" b="1">
                <a:latin typeface="Arial" charset="0"/>
              </a:rPr>
              <a:t>თარიღის მიხედვით</a:t>
            </a:r>
            <a:endParaRPr lang="ru-RU" b="1">
              <a:latin typeface="Arial" charset="0"/>
            </a:endParaRPr>
          </a:p>
        </p:txBody>
      </p:sp>
      <p:graphicFrame>
        <p:nvGraphicFramePr>
          <p:cNvPr id="306429" name="Group 253"/>
          <p:cNvGraphicFramePr>
            <a:graphicFrameLocks noGrp="1"/>
          </p:cNvGraphicFramePr>
          <p:nvPr/>
        </p:nvGraphicFramePr>
        <p:xfrm>
          <a:off x="352425" y="4811713"/>
          <a:ext cx="2513013" cy="146304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ნომერი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თარიღი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02.02.2006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12.04.2006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01.11.2006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6297" name="Rectangle 121"/>
          <p:cNvSpPr>
            <a:spLocks noChangeArrowheads="1"/>
          </p:cNvSpPr>
          <p:nvPr/>
        </p:nvSpPr>
        <p:spPr bwMode="auto">
          <a:xfrm>
            <a:off x="3200400" y="4248150"/>
            <a:ext cx="2387600" cy="366713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საქონლის მიხედვით</a:t>
            </a:r>
            <a:endParaRPr lang="ru-RU" b="1">
              <a:latin typeface="Arial" charset="0"/>
            </a:endParaRPr>
          </a:p>
        </p:txBody>
      </p:sp>
      <p:sp>
        <p:nvSpPr>
          <p:cNvPr id="306298" name="Rectangle 122"/>
          <p:cNvSpPr>
            <a:spLocks noChangeArrowheads="1"/>
          </p:cNvSpPr>
          <p:nvPr/>
        </p:nvSpPr>
        <p:spPr bwMode="auto">
          <a:xfrm>
            <a:off x="6007100" y="4318000"/>
            <a:ext cx="2690813" cy="366713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რაოდენობის მიხედვით</a:t>
            </a:r>
            <a:endParaRPr lang="ru-RU" b="1">
              <a:latin typeface="Arial" charset="0"/>
            </a:endParaRPr>
          </a:p>
        </p:txBody>
      </p:sp>
      <p:graphicFrame>
        <p:nvGraphicFramePr>
          <p:cNvPr id="306431" name="Group 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76540"/>
              </p:ext>
            </p:extLst>
          </p:nvPr>
        </p:nvGraphicFramePr>
        <p:xfrm>
          <a:off x="3052763" y="4803775"/>
          <a:ext cx="2813050" cy="1463040"/>
        </p:xfrm>
        <a:graphic>
          <a:graphicData uri="http://schemas.openxmlformats.org/drawingml/2006/table">
            <a:tbl>
              <a:tblPr/>
              <a:tblGrid>
                <a:gridCol w="1166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ნომერი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ფორთოხალი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ბანანები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კივი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6423" name="Group 247"/>
          <p:cNvGraphicFramePr>
            <a:graphicFrameLocks noGrp="1"/>
          </p:cNvGraphicFramePr>
          <p:nvPr/>
        </p:nvGraphicFramePr>
        <p:xfrm>
          <a:off x="6078538" y="4784725"/>
          <a:ext cx="2609850" cy="1463040"/>
        </p:xfrm>
        <a:graphic>
          <a:graphicData uri="http://schemas.openxmlformats.org/drawingml/2006/table">
            <a:tbl>
              <a:tblPr/>
              <a:tblGrid>
                <a:gridCol w="1068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ნომერი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6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6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 autoUpdateAnimBg="0"/>
      <p:bldP spid="306182" grpId="0" autoUpdateAnimBg="0"/>
      <p:bldP spid="306238" grpId="0" build="p" autoUpdateAnimBg="0"/>
      <p:bldP spid="306297" grpId="0" autoUpdateAnimBg="0"/>
      <p:bldP spid="30629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8472D6BC-63E1-448E-A682-5E39B2FF12A9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12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296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ძებნა ინდექსების მიხედვით</a:t>
            </a:r>
            <a:endParaRPr lang="ru-RU" sz="3000" b="1">
              <a:latin typeface="Arial" charset="0"/>
            </a:endParaRPr>
          </a:p>
        </p:txBody>
      </p:sp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352425" y="984250"/>
            <a:ext cx="8539163" cy="2028825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ka-GE" sz="2600" b="1">
                <a:solidFill>
                  <a:srgbClr val="4040C0"/>
                </a:solidFill>
                <a:latin typeface="Arial" charset="0"/>
              </a:rPr>
              <a:t>ძებნის ალგორითმი</a:t>
            </a:r>
            <a:r>
              <a:rPr lang="ru-RU" sz="2600" b="1">
                <a:solidFill>
                  <a:srgbClr val="4040C0"/>
                </a:solidFill>
                <a:latin typeface="Arial" charset="0"/>
              </a:rPr>
              <a:t>:</a:t>
            </a:r>
          </a:p>
          <a:p>
            <a:pPr marL="531813" lvl="1" indent="-342900">
              <a:buFontTx/>
              <a:buAutoNum type="arabicParenR"/>
            </a:pPr>
            <a:r>
              <a:rPr lang="ka-GE" sz="2000" b="1">
                <a:latin typeface="Arial" charset="0"/>
              </a:rPr>
              <a:t>ორობითი ძებნა ინდექსის მიხედვით</a:t>
            </a:r>
            <a:r>
              <a:rPr lang="ru-RU" sz="2000">
                <a:latin typeface="Arial" charset="0"/>
              </a:rPr>
              <a:t>–</a:t>
            </a:r>
            <a:r>
              <a:rPr lang="ka-GE" sz="2000">
                <a:latin typeface="Arial" charset="0"/>
              </a:rPr>
              <a:t>საჭირო ჩანაწერების ნომრების მოძებნა</a:t>
            </a:r>
            <a:r>
              <a:rPr lang="ru-RU" sz="2000">
                <a:latin typeface="Arial" charset="0"/>
              </a:rPr>
              <a:t>;</a:t>
            </a:r>
          </a:p>
          <a:p>
            <a:pPr marL="531813" lvl="1" indent="-342900">
              <a:buFontTx/>
              <a:buAutoNum type="arabicParenR"/>
            </a:pPr>
            <a:r>
              <a:rPr lang="ka-GE" sz="2000">
                <a:latin typeface="Arial" charset="0"/>
              </a:rPr>
              <a:t>ძირითადი ცხრილიდან აღნიშნული ჩანაწერების არჩევა ნომრების მიხედვით</a:t>
            </a:r>
            <a:r>
              <a:rPr lang="ka-GE" sz="2600">
                <a:latin typeface="Arial" charset="0"/>
              </a:rPr>
              <a:t>. </a:t>
            </a:r>
            <a:endParaRPr lang="ru-RU" sz="2600">
              <a:latin typeface="Arial" charset="0"/>
            </a:endParaRPr>
          </a:p>
          <a:p>
            <a:pPr>
              <a:spcBef>
                <a:spcPct val="50000"/>
              </a:spcBef>
              <a:buFontTx/>
              <a:buAutoNum type="arabicParenR"/>
            </a:pPr>
            <a:endParaRPr lang="ru-RU" sz="2600">
              <a:latin typeface="Arial" charset="0"/>
            </a:endParaRPr>
          </a:p>
        </p:txBody>
      </p:sp>
      <p:sp>
        <p:nvSpPr>
          <p:cNvPr id="328709" name="Rectangle 5"/>
          <p:cNvSpPr>
            <a:spLocks noChangeArrowheads="1"/>
          </p:cNvSpPr>
          <p:nvPr/>
        </p:nvSpPr>
        <p:spPr bwMode="auto">
          <a:xfrm>
            <a:off x="1033463" y="4418013"/>
            <a:ext cx="7805737" cy="15700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ინდექსები იკავებენ ადგილს მეხსიერებაში</a:t>
            </a:r>
            <a:r>
              <a:rPr lang="ru-RU" sz="2000">
                <a:latin typeface="Arial" charset="0"/>
              </a:rPr>
              <a:t>;</a:t>
            </a:r>
          </a:p>
          <a:p>
            <a:pPr marL="342900" indent="-342900">
              <a:spcBef>
                <a:spcPct val="20000"/>
              </a:spcBef>
              <a:buFontTx/>
              <a:buAutoNum type="arabicParenR"/>
            </a:pPr>
            <a:r>
              <a:rPr lang="ka-GE" sz="2000">
                <a:latin typeface="Arial" charset="0"/>
              </a:rPr>
              <a:t>ცხრილის შეცვლისას საჭიროა ყველა ინდექსის გადაწყობა (მბმს-ებში ხორციელდება ავტომატურად).</a:t>
            </a:r>
            <a:endParaRPr lang="ru-RU" sz="2000">
              <a:latin typeface="Arial" charset="0"/>
            </a:endParaRP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465138" y="3406775"/>
            <a:ext cx="385762" cy="385763"/>
            <a:chOff x="2816" y="2458"/>
            <a:chExt cx="1728" cy="1728"/>
          </a:xfrm>
        </p:grpSpPr>
        <p:sp>
          <p:nvSpPr>
            <p:cNvPr id="29708" name="Oval 7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3" name="Group 8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2971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29712" name="Rectangle 10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29710" name="Freeform 11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12"/>
          <p:cNvGrpSpPr>
            <a:grpSpLocks noChangeAspect="1"/>
          </p:cNvGrpSpPr>
          <p:nvPr/>
        </p:nvGrpSpPr>
        <p:grpSpPr bwMode="auto">
          <a:xfrm>
            <a:off x="514350" y="4433888"/>
            <a:ext cx="395288" cy="395287"/>
            <a:chOff x="552" y="2523"/>
            <a:chExt cx="1728" cy="1728"/>
          </a:xfrm>
        </p:grpSpPr>
        <p:sp>
          <p:nvSpPr>
            <p:cNvPr id="29706" name="Oval 13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29707" name="Rectangle 14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328719" name="Rectangle 15"/>
          <p:cNvSpPr>
            <a:spLocks noChangeArrowheads="1"/>
          </p:cNvSpPr>
          <p:nvPr/>
        </p:nvSpPr>
        <p:spPr bwMode="auto">
          <a:xfrm>
            <a:off x="1025525" y="3306763"/>
            <a:ext cx="7626350" cy="852487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ka-GE" sz="2600">
                <a:latin typeface="Arial" charset="0"/>
              </a:rPr>
              <a:t>ორობითი ძებნა ყველა სვეტის მიხედვით, რომელთათვისაც შედგენილია ინდექსები</a:t>
            </a:r>
            <a:endParaRPr lang="ru-RU" sz="26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8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8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8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28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build="p"/>
      <p:bldP spid="328709" grpId="0" build="p"/>
      <p:bldP spid="3287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9144000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81386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767</Words>
  <Application>Microsoft Office PowerPoint</Application>
  <PresentationFormat>On-screen Show (4:3)</PresentationFormat>
  <Paragraphs>327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Kolkheti Mtavruli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მონაცემთა ბაზები. საინფორმაციო სისტემები</dc:title>
  <cp:lastModifiedBy>Soso Kartvelishvili</cp:lastModifiedBy>
  <cp:revision>40</cp:revision>
  <dcterms:modified xsi:type="dcterms:W3CDTF">2025-09-22T06:06:39Z</dcterms:modified>
</cp:coreProperties>
</file>