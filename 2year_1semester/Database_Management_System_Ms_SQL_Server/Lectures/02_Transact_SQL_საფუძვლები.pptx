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9" r:id="rId10"/>
    <p:sldId id="270" r:id="rId11"/>
    <p:sldId id="262" r:id="rId12"/>
    <p:sldId id="265" r:id="rId13"/>
    <p:sldId id="266" r:id="rId14"/>
    <p:sldId id="263" r:id="rId15"/>
    <p:sldId id="271" r:id="rId16"/>
    <p:sldId id="26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09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DBB8-B4E7-2BCB-D135-D63C6B38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AEEFC-0047-68F0-60B8-07041980B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E1595-ED5F-F9A7-B2EF-ABAFFA8E5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E1AD8-517C-9B69-C30A-9DFF7EB08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6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CC38-3CB1-025A-EC2E-1492635B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F428B-7536-5399-A655-C2B44128E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F1EDC-90BD-C6B8-0C22-E2098CD44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E8489-5226-6084-30BD-EB2A33E6C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98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31107-A59F-EA55-FE2F-585F3F65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421F8-9F2B-B0FD-FDE1-F2CA4D8CA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EC9C8-DDF6-B1C4-F919-652AC66FC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700D6-9B31-8BEE-6891-85FC5E625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51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9582-DFFF-6194-9EAF-C83A89F6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0820D-6F04-04C4-6A33-0F2C3071A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D2D6B-F592-EF07-9469-20EDFE6BF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007C8-DF5B-C8BC-84DD-E9B755EB5B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49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8315-4639-A33D-20E4-15FBAB946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E3FCC-858B-BFC7-F7FA-6571862D6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69A1E-34FA-BD65-0F04-E37BE4D11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0E9AD-53AC-3E56-88D0-B79A72781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88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F4D87-4737-72FE-48B9-492F53D6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A21CC-0B88-418F-CB8D-44E8C29FA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524C0-79F4-AC26-640B-B4F1CCFA1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2E552-4332-7528-F57C-7690D5059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24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E7DD3-3DC8-650B-1400-3C1B6A49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4426F-D950-171C-B670-CCF86F4B2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1BB91-9BB0-5454-1453-BE559B803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304D7-8EB9-9EC6-4AA3-F5B49728C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66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Transact-SQL-ის საფუძვლები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კომპონენტები, ტიპები და კონსტრუქციები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კვირა II • ენა, ცვლადები, პირობები, კატალოგი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მონაცემთა ბაზების მართვის სისტემა • Microsoft SQL Server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რა არის Transact-SQL (T-SQL)?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ka-GE" sz="11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რა არის </a:t>
            </a:r>
            <a:r>
              <a:rPr lang="en-US" sz="11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T-SQL?</a:t>
            </a:r>
          </a:p>
          <a:p>
            <a:pPr marL="342900" indent="-342900">
              <a:buSzPct val="100000"/>
              <a:buChar char="•"/>
            </a:pPr>
            <a:r>
              <a:rPr lang="en-US" sz="11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(Transact-SQL) 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არის 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ის მიერ შექმნილი 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ის გაფართოებული ვერსია (დიალექტი).</a:t>
            </a:r>
          </a:p>
          <a:p>
            <a:pPr marL="342900" indent="-342900">
              <a:buSzPct val="100000"/>
              <a:buChar char="•"/>
            </a:pP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ის იღებს სტანდარტულ 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SQL-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 და ამატებს პროცედურული პროგრამირების შესაძლებლობებს.</a:t>
            </a:r>
          </a:p>
          <a:p>
            <a:pPr marL="342900" indent="-342900">
              <a:buSzPct val="100000"/>
              <a:buChar char="•"/>
            </a:pPr>
            <a:r>
              <a:rPr lang="ka-GE" sz="11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დამატებითი ხელსაწყოები </a:t>
            </a:r>
            <a:r>
              <a:rPr lang="en-US" sz="11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T-SQL-</a:t>
            </a:r>
            <a:r>
              <a:rPr lang="ka-GE" sz="11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ცვლადები, პირობითი ოპერატორები (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IF/ELSE), 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ციკლები (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WHILE), 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შეცდომების მართვა (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TRY/CATCH), 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დროებითი ცხრილები და ჩაშენებული სისტემური ფუნქციები.</a:t>
            </a:r>
          </a:p>
          <a:p>
            <a:pPr marL="342900" indent="-342900">
              <a:buSzPct val="100000"/>
              <a:buChar char="•"/>
            </a:pPr>
            <a:r>
              <a:rPr lang="ka-GE" sz="11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მნიშვნელოვანი წესი: 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Server-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 ნებისმიერი მოთხოვნა (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Query), 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შენახული პროცედურა (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Procedure) 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თუ სკრიპტი სრულდება </a:t>
            </a:r>
            <a:r>
              <a:rPr lang="en-US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T-SQL-</a:t>
            </a:r>
            <a:r>
              <a:rPr lang="ka-GE" sz="11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ის მეშვეობით.</a:t>
            </a:r>
          </a:p>
          <a:p>
            <a:pPr marL="342900" indent="-342900">
              <a:buSzPct val="100000"/>
              <a:buChar char="•"/>
            </a:pPr>
            <a:endParaRPr lang="ka-GE" sz="1100">
              <a:solidFill>
                <a:srgbClr val="2C2C2C"/>
              </a:solidFill>
              <a:latin typeface="Calibri" pitchFamily="34" charset="0"/>
              <a:cs typeface="Calibri" pitchFamily="34" charset="-120"/>
            </a:endParaRPr>
          </a:p>
          <a:p>
            <a:pPr>
              <a:buSzPct val="100000"/>
            </a:pPr>
            <a:r>
              <a:rPr lang="en-US" sz="1100" b="1"/>
              <a:t>2. T-SQL-</a:t>
            </a:r>
            <a:r>
              <a:rPr lang="ka-GE" sz="1100" b="1"/>
              <a:t>ის ძირითადი კომპონენტები</a:t>
            </a:r>
          </a:p>
          <a:p>
            <a:pPr marL="342900" indent="-342900">
              <a:buSzPct val="100000"/>
              <a:buChar char="•"/>
            </a:pPr>
            <a:r>
              <a:rPr lang="en-US" sz="1100"/>
              <a:t>T-SQL </a:t>
            </a:r>
            <a:r>
              <a:rPr lang="ka-GE" sz="1100"/>
              <a:t>მოიცავს სხვადასხვა ტიპის ბრძანებებს, რომლებიც ენის სხვადასხვა დანიშნულების კომპონენტებად იყოფა:</a:t>
            </a:r>
          </a:p>
          <a:p>
            <a:pPr marL="342900" indent="-342900">
              <a:buSzPct val="100000"/>
              <a:buChar char="•"/>
            </a:pPr>
            <a:r>
              <a:rPr lang="en-US" sz="1100" b="1"/>
              <a:t>DDL (Data Definition Language): </a:t>
            </a:r>
            <a:r>
              <a:rPr lang="ka-GE" sz="1100"/>
              <a:t>სტრუქტურის სამართავი ბრძანებები (მაგ. </a:t>
            </a:r>
            <a:r>
              <a:rPr lang="en-US" sz="1100"/>
              <a:t>CREATE, ALTER, DROP — </a:t>
            </a:r>
            <a:r>
              <a:rPr lang="ka-GE" sz="1100"/>
              <a:t>ცხრილებისა და ბაზების შექმნა/შეცვლა/წაშლა).</a:t>
            </a:r>
          </a:p>
          <a:p>
            <a:pPr marL="342900" indent="-342900">
              <a:buSzPct val="100000"/>
              <a:buChar char="•"/>
            </a:pPr>
            <a:r>
              <a:rPr lang="en-US" sz="1100" b="1"/>
              <a:t>DML (Data Manipulation Language): </a:t>
            </a:r>
            <a:r>
              <a:rPr lang="ka-GE" sz="1100"/>
              <a:t>მონაცემების სამართავი ბრძანებები (მაგ. </a:t>
            </a:r>
            <a:r>
              <a:rPr lang="en-US" sz="1100"/>
              <a:t>SELECT, INSERT, UPDATE, DELETE — </a:t>
            </a:r>
            <a:r>
              <a:rPr lang="ka-GE" sz="1100"/>
              <a:t>მონაცემების წაკითხვა, ჩაწერა და რედაქტირება).</a:t>
            </a:r>
          </a:p>
          <a:p>
            <a:pPr marL="342900" indent="-342900">
              <a:buSzPct val="100000"/>
              <a:buChar char="•"/>
            </a:pPr>
            <a:r>
              <a:rPr lang="en-US" sz="1100" b="1"/>
              <a:t>DCL (Data Control Language): </a:t>
            </a:r>
            <a:r>
              <a:rPr lang="ka-GE" sz="1100"/>
              <a:t>უფლებების მინიჭება და მართვა (მაგ. </a:t>
            </a:r>
            <a:r>
              <a:rPr lang="en-US" sz="1100"/>
              <a:t>GRANT, REVOKE — </a:t>
            </a:r>
            <a:r>
              <a:rPr lang="ka-GE" sz="1100"/>
              <a:t>მომხმარებლებისთვის წვდომის მიცემა ან ჩამორთმევა).</a:t>
            </a:r>
          </a:p>
          <a:p>
            <a:pPr marL="342900" indent="-342900">
              <a:buSzPct val="100000"/>
              <a:buChar char="•"/>
            </a:pPr>
            <a:r>
              <a:rPr lang="en-US" sz="1100" b="1"/>
              <a:t>TCL (Transaction Control Language): </a:t>
            </a:r>
            <a:r>
              <a:rPr lang="ka-GE" sz="1100"/>
              <a:t>ტრანზაქციების მართვა (მაგ. </a:t>
            </a:r>
            <a:r>
              <a:rPr lang="en-US" sz="1100"/>
              <a:t>COMMIT, ROLLBACK — </a:t>
            </a:r>
            <a:r>
              <a:rPr lang="ka-GE" sz="1100"/>
              <a:t>ცვლილებების ბაზაში საბოლოოდ შენახვა ან უკან დაბრუნება).</a:t>
            </a:r>
          </a:p>
          <a:p>
            <a:pPr marL="342900" indent="-342900">
              <a:buSzPct val="100000"/>
              <a:buChar char="•"/>
            </a:pPr>
            <a:r>
              <a:rPr lang="ka-GE" sz="1100" b="1"/>
              <a:t>პროცედურული გაფართოებები: </a:t>
            </a:r>
            <a:r>
              <a:rPr lang="ka-GE" sz="1100"/>
              <a:t>ენის ლოგიკური ნაწილი (ცვლადები, ციკლები და პირობები).</a:t>
            </a:r>
          </a:p>
          <a:p>
            <a:pPr marL="342900" indent="-342900">
              <a:buSzPct val="100000"/>
              <a:buChar char="•"/>
            </a:pPr>
            <a:endParaRPr lang="ka-GE" sz="1100"/>
          </a:p>
          <a:p>
            <a:pPr>
              <a:buSzPct val="100000"/>
            </a:pPr>
            <a:r>
              <a:rPr lang="ka-GE" sz="1100" b="1"/>
              <a:t>3. შეხსენება </a:t>
            </a:r>
            <a:r>
              <a:rPr lang="en-US" sz="1100" b="1"/>
              <a:t>GO </a:t>
            </a:r>
            <a:r>
              <a:rPr lang="ka-GE" sz="1100" b="1"/>
              <a:t>დირექტივაზე</a:t>
            </a:r>
          </a:p>
          <a:p>
            <a:pPr marL="342900" indent="-342900">
              <a:buSzPct val="100000"/>
              <a:buChar char="•"/>
            </a:pPr>
            <a:r>
              <a:rPr lang="en-US" sz="1100" b="1"/>
              <a:t>GO </a:t>
            </a:r>
            <a:r>
              <a:rPr lang="ka-GE" sz="1100" b="1"/>
              <a:t>არ არის </a:t>
            </a:r>
            <a:r>
              <a:rPr lang="en-US" sz="1100" b="1"/>
              <a:t>T-SQL </a:t>
            </a:r>
            <a:r>
              <a:rPr lang="ka-GE" sz="1100" b="1"/>
              <a:t>ბრძანება!</a:t>
            </a:r>
          </a:p>
          <a:p>
            <a:pPr marL="342900" indent="-342900">
              <a:buSzPct val="100000"/>
              <a:buChar char="•"/>
            </a:pPr>
            <a:r>
              <a:rPr lang="ka-GE" sz="1100"/>
              <a:t>ის არის კლიენტის (მაგალითად, </a:t>
            </a:r>
            <a:r>
              <a:rPr lang="en-US" sz="1100"/>
              <a:t>SSMS </a:t>
            </a:r>
            <a:r>
              <a:rPr lang="ka-GE" sz="1100"/>
              <a:t>ან </a:t>
            </a:r>
            <a:r>
              <a:rPr lang="en-US" sz="1100"/>
              <a:t>sqlcmd) </a:t>
            </a:r>
            <a:r>
              <a:rPr lang="ka-GE" sz="1100"/>
              <a:t>შიდა ინსტრუქცია (დირექტივა), რომელიც უბრალოდ ერთმანეთისგან გამოყოფს კოდის სხვადასხვა ბლოკებს (</a:t>
            </a:r>
            <a:r>
              <a:rPr lang="en-US" sz="1100"/>
              <a:t>Batch-</a:t>
            </a:r>
            <a:r>
              <a:rPr lang="ka-GE" sz="1100"/>
              <a:t>ებს) მათ სერვერზე გაგზავნამდე.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SQL-ის ძირითადი კომპონენტები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25196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6" name="Shape 4"/>
          <p:cNvSpPr/>
          <p:nvPr/>
        </p:nvSpPr>
        <p:spPr>
          <a:xfrm>
            <a:off x="4709160" y="685800"/>
            <a:ext cx="425196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7" name="Text 5"/>
          <p:cNvSpPr/>
          <p:nvPr/>
        </p:nvSpPr>
        <p:spPr>
          <a:xfrm>
            <a:off x="320040" y="777239"/>
            <a:ext cx="4114800" cy="1794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DDL </a:t>
            </a:r>
            <a:r>
              <a:rPr lang="en-US" sz="1200" b="1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და DML</a:t>
            </a:r>
            <a:r>
              <a:rPr lang="ka-GE" sz="1200" b="1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</a:t>
            </a:r>
          </a:p>
          <a:p>
            <a:r>
              <a:rPr lang="ka-GE" sz="1100" b="1"/>
              <a:t>DDL</a:t>
            </a:r>
            <a:r>
              <a:rPr lang="ka-GE" sz="1100"/>
              <a:t> ნიშნავს </a:t>
            </a:r>
            <a:r>
              <a:rPr lang="ka-GE" sz="1100" b="1"/>
              <a:t>Data Definition Language</a:t>
            </a:r>
            <a:r>
              <a:rPr lang="ka-GE" sz="1100"/>
              <a:t>-ს (მონაცემთა განსაზღვრის ენა), ხოლო </a:t>
            </a:r>
            <a:r>
              <a:rPr lang="ka-GE" sz="1100" b="1"/>
              <a:t>DML</a:t>
            </a:r>
            <a:r>
              <a:rPr lang="ka-GE" sz="1100"/>
              <a:t> ნიშნავს </a:t>
            </a:r>
            <a:r>
              <a:rPr lang="ka-GE" sz="1100" b="1"/>
              <a:t>Data Manipulation Language</a:t>
            </a:r>
            <a:r>
              <a:rPr lang="ka-GE" sz="1100"/>
              <a:t>-ს (მონაცემებით მანიპულირების ენა). ორივე მათგანი წარმოადგენს SQL (Structured Query Language) ბრძანებების ქვეჯგუფებს, რომლებიც მონაცემთა ბაზებთან მუშაობისთვის გამოიყენება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50582"/>
            <a:ext cx="3977640" cy="2604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Data Definition Language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DROP, TRUNCATE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ობიექტების სტრუქტურა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Data Manipulation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DELETE, MERGE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მონაცემების კითხვა და ცვლილება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777239"/>
            <a:ext cx="3977640" cy="1889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DCL </a:t>
            </a:r>
            <a:r>
              <a:rPr lang="en-US" sz="1200" b="1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და TCL</a:t>
            </a:r>
            <a:r>
              <a:rPr lang="ka-GE" sz="1200" b="1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</a:p>
          <a:p>
            <a:r>
              <a:rPr lang="en-US" sz="1200"/>
              <a:t>TCL </a:t>
            </a:r>
            <a:r>
              <a:rPr lang="ka-GE" sz="1200"/>
              <a:t>ბრძანებები მართავს </a:t>
            </a:r>
            <a:r>
              <a:rPr lang="en-US" sz="1200"/>
              <a:t>DML </a:t>
            </a:r>
            <a:r>
              <a:rPr lang="ka-GE" sz="1200"/>
              <a:t>ბრძანებების მიერ განხორციელებულ ცვლილებებს და მათ ლოგიკურ ჯგუფებად (ტრანზაქციებად) აერთიანებს. ტრანზაქცია არის მოქმედებების ერთობლიობა, რომელიც ან სრულად უნდა შესრულდეს, ან საერთოდ არ შესრულდეს (რათა ბაზაში მონაცემები არ აირიოს).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150582"/>
            <a:ext cx="3977640" cy="2604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— Data Control Language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REVOKE, DENY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უფლებების მართვა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— Transaction Control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TRAN, COMMIT, ROLLBACK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ტრანზაქციების მართვა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იდენტიფიკატორები და მონაცემთა ტიპები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იდენტიფიკატორების (სახელების) დარქმევის წესები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Server-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 ობიექტების (ცხრილების, სვეტების, ცვლადების) სახელების დარქმევისას უნდა დავიცვათ შემდეგი წესები: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სტანდარტული სახელები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სახელი აუცილებლად უნდა იწყებოდეს ასოთი ან ქვედა ტირეთი (_).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სპეციალური სახელები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თუ სახელი შეიცავს დაშორებებს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Spaces),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ქართულ ასოებს ან სპეციალურ სიმბოლოებს, ის აუცილებლად უნდა ჩავსვათ კვადრატულ ფრჩხილებში — [ობიექტის სახელი].</a:t>
            </a:r>
          </a:p>
          <a:p>
            <a:pPr>
              <a:spcAft>
                <a:spcPts val="500"/>
              </a:spcAft>
              <a:buSzPct val="100000"/>
            </a:pP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მაგალითად: [სტუდენტის სახელი] ან [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Name].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500"/>
              </a:spcAft>
              <a:buSzPct val="100000"/>
            </a:pP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მონაცემთა ძირითადი ტიპები 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Server-</a:t>
            </a: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</a:t>
            </a:r>
          </a:p>
          <a:p>
            <a:pPr>
              <a:spcAft>
                <a:spcPts val="500"/>
              </a:spcAft>
              <a:buSzPct val="100000"/>
            </a:pP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მონაცემთა ტიპის სწორად შერჩევა კრიტიკულად მნიშვნელოვანია ბაზის წარმადობისთვის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Performance)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და მეხსიერების ოპტიმალური გამოყენებისთვის.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ka-GE" sz="10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რიცხვითი ტიპები (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BIGINT: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მთელი რიცხვებისთვის (მაგ.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რაოდენობა).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გამოიყენება ძალიან დიდი ციფრებისთვის.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DECIMAL(p,s):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ზუსტი ათწილადებისთვის, სადაც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არის ციფრების მთლიანი რაოდენობა, ხოლო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ციფრების რაოდენობა მძიმის შემდეგ (მაგ. ფასები, კოორდინატები).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მიახლოებითი ათწილადებისთვის (გამოიყენება სამეცნიერო გამოთვლებისთვის).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სპეციალური ტიპი ფულადი მნიშვნელობებისთვის.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23999-E0B7-FD5F-940A-AE580BC5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0787E1-E4DD-D645-FC98-62FA5BCDCB3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915F7D-EBA9-FFB6-397A-28EDF056D032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EEAD09-F920-5859-A219-511E3E7686DC}"/>
              </a:ext>
            </a:extLst>
          </p:cNvPr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იდენტიფიკატორები და მონაცემთა ტიპები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DDA07B-6F18-6635-DC63-87111B3FF4C0}"/>
              </a:ext>
            </a:extLst>
          </p:cNvPr>
          <p:cNvSpPr/>
          <p:nvPr/>
        </p:nvSpPr>
        <p:spPr>
          <a:xfrm>
            <a:off x="274320" y="685800"/>
            <a:ext cx="8595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ტექსტური ტიპები (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&amp; Unicode)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/ VARCHAR: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სტანდარტული ტექსტებისთვის (ინგლისური ასოები, სიმბოლოები).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ფიქსირებული სიგრძისაა,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—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ცვლადი.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NCHAR / NVARCHAR (Unicode):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აუცილებელია ქართული ტექსტების, ემოჯიებისა და სხვა არალათინური შრიფტების შესანახად.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მნიშვნელოვანი წესი: ქართული ტექსტის ჩაწერისას ან შედარებისას წინ ყოველთვის უნდა დავუწეროთ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პრეფიქსი (მაგ.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გიორგი'), რათა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Server-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მა ტექსტი იუნიკოდად აღიქვას და კითხვის ნიშნებად (???) არ აქციოს.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ka-GE" sz="10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თარიღი და დრო (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ინახავს მხოლოდ თარიღს (წელი-თვე-დღე).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ინახავს მხოლოდ დროს (საათი:წუთი:წამი).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ka-GE" sz="10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სხვა სპეციალური ტიპები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ლოგიკური ტიპი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Boolean) —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იღებს მხოლოდ 0-ს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False)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ან 1-ს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UNIQUEIDENTIFIER: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გლობალურად უნიკალური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(GUID),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მაგ: 6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F9619FF-8B86-D011-B42D-00C04FC964FF.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VARBINARY: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ბინარული მონაცემები (მაგ. ფაილები, სურათები ან დოკუმენტები).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XML: XML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ფორმატის მონაცემების შესანახად და დასამუშავებლად.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5941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ცვლადები და ბეჭდვა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475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  <a:buSzPct val="100000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ცვლადების გამოცხადება და მნიშვნელობის მინიჭება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T-SQL-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 ცვლადებთან მუშაობას აქვს მკაცრი წესები: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გამოცხადება: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ცვლადი იქმნება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ბრძანებით, ხოლო მისი სახელი აუცილებლად უნდა იწყებოდეს @ სიმბოლოთი (მაგ: @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@Name).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მნიშვნელობის მინიჭება (</a:t>
            </a: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ცვლადისთვის მნიშვნელობის მიცემა შესაძლებელია 3 გზით:</a:t>
            </a:r>
          </a:p>
          <a:p>
            <a:pPr lvl="1">
              <a:spcAft>
                <a:spcPts val="300"/>
              </a:spcAft>
              <a:buSzPct val="100000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პირდაპირ გამოცხადებისას (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@Age INT = 25;).</a:t>
            </a:r>
          </a:p>
          <a:p>
            <a:pPr lvl="1">
              <a:spcAft>
                <a:spcPts val="300"/>
              </a:spcAft>
              <a:buSzPct val="100000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მოგვიანებით,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ბრძანების გამოყენებით (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@Age = 26;).</a:t>
            </a:r>
          </a:p>
          <a:p>
            <a:pPr lvl="1">
              <a:spcAft>
                <a:spcPts val="300"/>
              </a:spcAft>
              <a:buSzPct val="100000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ბაზიდან წაკითხვისას,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ბრძანებით (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@Age = UserAge FROM Users...).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იუნიკოდი (</a:t>
            </a: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Unicode) </a:t>
            </a: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და ქართული ტექსტი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ქართული, ნებისმიერი არალათინური ტექსტისა თუ იმიჯის შესანახად უნდა გამოვიყენოთ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 (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ან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NCHAR)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ტიპი.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ტექსტის მინიჭებისას აუცილებელია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პრეფიქსის (ლიტერალის) გამოყენება: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ქართული ტექსტი'. თუ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 გამოვტოვებთ, ბაზაში ტექსტის ნაცვლად კითხვის ნიშნები (???) ჩაიწერება.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შედეგის ჩვენება: </a:t>
            </a: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vs SELECT</a:t>
            </a:r>
            <a:endParaRPr lang="ka-GE" sz="1200" b="1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კოდის მუშაობის შედეგის დასანახად ვიყენებთ ორ სხვადასხვა ხელსაწყოს: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ბეჭდავს უბრალო საინფორმაციო ტექსტს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(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შეტყობინებები) ფანჯარაში. გამოიყენება დეველოპერისთვის, კოდის ტესტირებისა და დებაგინგისთვის.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აბრუნებს მონაცემებს სტრუქტურირებული ცხრილის სახით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შედეგები) ფანჯარაში. სწორედ ამ ცხრილს კითხულობენ გარე პროგრამები და ვებსაიტები.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CA710-ACBE-F649-9A32-9C448D1B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2ED8EF-8443-8F08-9E5A-EA5C1799A70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D3EE83-7E56-AC4B-61B8-51CF4374F206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FB17DD-CAA6-7BBA-44ED-354852ACD0F7}"/>
              </a:ext>
            </a:extLst>
          </p:cNvPr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ცვლადები </a:t>
            </a: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და ბეჭდვა</a:t>
            </a:r>
            <a:r>
              <a:rPr lang="ka-GE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მაგალითები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26FAC4-5F37-05DF-F636-29DC86CDEDD6}"/>
              </a:ext>
            </a:extLst>
          </p:cNvPr>
          <p:cNvSpPr/>
          <p:nvPr/>
        </p:nvSpPr>
        <p:spPr>
          <a:xfrm>
            <a:off x="228600" y="1481328"/>
            <a:ext cx="8686800" cy="3456432"/>
          </a:xfrm>
          <a:prstGeom prst="roundRect">
            <a:avLst>
              <a:gd name="adj" fmla="val 1323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DB34FC-D717-9B91-2728-A6F8B9E45873}"/>
              </a:ext>
            </a:extLst>
          </p:cNvPr>
          <p:cNvSpPr/>
          <p:nvPr/>
        </p:nvSpPr>
        <p:spPr>
          <a:xfrm>
            <a:off x="411480" y="576072"/>
            <a:ext cx="8321040" cy="4288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-- 1. ცვლადების გამოცხადება და მნიშვნელობის პირდაპირ მინიჭება</a:t>
            </a:r>
          </a:p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@StudentName NVARCHAR(50) = N'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მარიამი'; -- ქართული ტექსტი </a:t>
            </a: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პრეფიქსით</a:t>
            </a:r>
          </a:p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@Score INT;</a:t>
            </a:r>
          </a:p>
          <a:p>
            <a:endParaRPr lang="en-US" sz="1100">
              <a:solidFill>
                <a:srgbClr val="1E3A5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-- 2. 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მნიშვნელობის მინიჭება </a:t>
            </a: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ბრძანებით</a:t>
            </a:r>
          </a:p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@Score = 95;</a:t>
            </a:r>
          </a:p>
          <a:p>
            <a:endParaRPr lang="en-US" sz="1100">
              <a:solidFill>
                <a:srgbClr val="1E3A5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-- 3. 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შედეგის გამოტანა </a:t>
            </a: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PRINT-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ით (გამოჩნდება </a:t>
            </a: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ჩანართში)</a:t>
            </a:r>
          </a:p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N'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სტუდენტის სახელია: ' + @</a:t>
            </a: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StudentName;</a:t>
            </a:r>
          </a:p>
          <a:p>
            <a:endParaRPr lang="en-US" sz="1100">
              <a:solidFill>
                <a:srgbClr val="1E3A5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-- 4. 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შედეგის გამოტანა </a:t>
            </a: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ით (გამოჩნდება </a:t>
            </a: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ჩანართში, ცხრილის სახით)</a:t>
            </a:r>
          </a:p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@StudentName AS [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სტუდენტი], @</a:t>
            </a: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AS [</a:t>
            </a:r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ქულა];</a:t>
            </a:r>
          </a:p>
          <a:p>
            <a:endParaRPr lang="ka-GE" sz="1100">
              <a:solidFill>
                <a:srgbClr val="1E3A5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ka-GE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</a:t>
            </a:r>
          </a:p>
          <a:p>
            <a:pPr marL="0" indent="0">
              <a:buNone/>
            </a:pPr>
            <a:endParaRPr lang="ka-GE" sz="1100">
              <a:solidFill>
                <a:srgbClr val="1E3A5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</a:t>
            </a: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@Name NVARCHAR(50) = N'გიორგი';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@Age INT = 25;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@Salary DECIMAL(10,2);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@Age = @Age + 1;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@Salary = 1500.50;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@Name AS StudentName, @Age AS Age, @Salary AS Salary;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N'სტუდენტი: ' + @Name;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4235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პირობითი კონსტრუქცია და ციკლი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12064"/>
            <a:ext cx="8595360" cy="5044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  <a:buSzPct val="100000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პირობითი ოპერატორები და ციკლები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T-SQL-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 კოდის შესრულების ნაკადის სამართავად გამოიყენება შემდეგი კონსტრუქციები: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... ELSE: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ამოწმებს კონკრეტულ პირობას და ასრულებს შესაბამისი კოდის ბლოკს. თუ პირობა ჭეშმარიტია, სრულდება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 არსებული კოდი, წინააღმდეგ შემთხვევაში კი —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ბლოკი.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წარმოადგენს ციკლს, რომელიც მანამ იმეორებს კოდის ბლოკის შესრულებას, სანამ მოცემული პირობა არის ჭეშმარიტი (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True).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კოდის ბლოკების ორგანიზება (</a:t>
            </a: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... END)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ბლოკის შეკვრა: თუ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 ან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WHILE-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 უნდა დავუწეროთ ერთზე მეტი ბრძანება, ეს ბრძანებები აუცილებლად უნდა მოვაქციოთ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... END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კონსტრუქციაში.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ეს ლოგიკა სხვა პროგრამირების ენებში არსებული ფიგურული ფრჩხილების { } ანალოგია.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ციკლის მართვის ბრძანებებიციკლის მუშაობის პროცესში ქცევის შესაცვლელად გამოიყენება ორი მთავარი ბრძანება: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მყისიერად წყვეტს ციკლის მუშაობას და გამოდის მისგან, მიუხედავად იმისა, შესრულებულია თუ არა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WHILE-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ის ძირითადი პირობა.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CONTINUE: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აიძულებს ციკლს, გამოტოვოს მიმდინარე ბლოკში დარჩენილი ყველა ბრძანება და მაშინვე გადავიდეს შემდეგ იტერაციაზე (მომდევნო ნაბიჯზე).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42F3-F9DA-D326-6AEA-1E7628F7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E987DA-299D-254F-3841-AC13E5AD94C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8FBA9B-8270-939D-0825-63CF49A6041A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2CC281-F89E-6568-D46E-C3AB670F1F8F}"/>
              </a:ext>
            </a:extLst>
          </p:cNvPr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პირობითი კონსტრუქცია </a:t>
            </a: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და ციკლი</a:t>
            </a:r>
            <a:r>
              <a:rPr lang="ka-GE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მაგალითები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92161C-DE56-AF2C-CDA7-B14E4010E7CC}"/>
              </a:ext>
            </a:extLst>
          </p:cNvPr>
          <p:cNvSpPr/>
          <p:nvPr/>
        </p:nvSpPr>
        <p:spPr>
          <a:xfrm>
            <a:off x="228600" y="1481328"/>
            <a:ext cx="8686800" cy="3456432"/>
          </a:xfrm>
          <a:prstGeom prst="roundRect">
            <a:avLst>
              <a:gd name="adj" fmla="val 1323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D25E5F-49FF-4ADD-4583-AF72F9978E82}"/>
              </a:ext>
            </a:extLst>
          </p:cNvPr>
          <p:cNvSpPr/>
          <p:nvPr/>
        </p:nvSpPr>
        <p:spPr>
          <a:xfrm>
            <a:off x="411480" y="512064"/>
            <a:ext cx="8321040" cy="4352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  ==================================================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პრაქტიკული მაგალითი: ციკლები და პირობები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T-SQL-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ში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ამოცანა: დავბეჭდოთ ციფრები 1-დან 10-მდე, მაგრამ: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გამოვტოვოთ ციფრი 3 (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CONTINUE)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შევწყვიტოთ ციკლი, თუ მივაღწევთ 7-ს (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BREAK)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==================================================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</a:t>
            </a:r>
          </a:p>
          <a:p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-- 1. 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ცვლადის გამოცხადება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@Counter INT = 0;</a:t>
            </a:r>
          </a:p>
          <a:p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-- 2. 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ციკლის დაწყება (მუშაობს მანამ, სანამ </a:t>
            </a:r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ნაკლებია ან ტოლია 10-ის)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@Counter &lt;= 10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-- 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ვინაიდან ბლოკში ბევრი ბრძანებაა, ვიყენებთ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BEGIN-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ს  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ყოველ ნაბიჯზე ვზრდით ცვლადს 1-ით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@Counter = @Counter + 1;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მაგალითი 1: </a:t>
            </a:r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CONTINUE-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ს გამოყენება (გამოვტოვოთ ციფრი 3)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@Counter = 3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BEGIN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N'-- 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ციფრი 3 გამოტოვებულია --';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CONTINUE; -- 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კოდი აქედანვე ბრუნდება ციკლის დასაწყისში და ქვემოთ აღარ ჩადის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მაგალითი 2: </a:t>
            </a:r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BREAK-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ის გამოყენება (ციკლის გაჩერება 7-ზე)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@Counter = 7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BEGIN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N'-- 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ციკლი შეწყდა, რადგან მივაღწიეთ 7-ს --';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 -- 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მყისიერად თიშავს მთლიან ციკლს</a:t>
            </a:r>
          </a:p>
          <a:p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</a:p>
          <a:p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მაგალითი 3: </a:t>
            </a:r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 </a:t>
            </a:r>
            <a:r>
              <a:rPr lang="ka-GE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და </a:t>
            </a:r>
            <a:r>
              <a:rPr lang="en-US" sz="800" b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@Counter % 2 = 0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BEGIN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N'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ლუწი რიცხვი: ' +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CAST(@Counter AS NVARCHAR(10));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BEGIN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N'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კენტი რიცხვი: ' + </a:t>
            </a:r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CAST(@Counter AS NVARCHAR(10));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</a:p>
          <a:p>
            <a:r>
              <a:rPr lang="en-US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-- </a:t>
            </a:r>
            <a:r>
              <a:rPr lang="ka-GE" sz="8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აქ მთავრდება ციკლის ბლოკი</a:t>
            </a:r>
          </a:p>
        </p:txBody>
      </p:sp>
    </p:spTree>
    <p:extLst>
      <p:ext uri="{BB962C8B-B14F-4D97-AF65-F5344CB8AC3E}">
        <p14:creationId xmlns:p14="http://schemas.microsoft.com/office/powerpoint/2010/main" val="205100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7249-B7DC-0E70-1845-943BCE65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9E01E6-11AD-B29B-F5D4-86179960CA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6268AE-E803-19BC-FC55-FDCB884A9D3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7DCEF-826A-0BE6-9481-F2F4AE7384F6}"/>
              </a:ext>
            </a:extLst>
          </p:cNvPr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პირობითი კონსტრუქცია </a:t>
            </a: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და ციკლი</a:t>
            </a:r>
            <a:r>
              <a:rPr lang="ka-GE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მაგალითები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9EC88D-BE12-1EA8-BE6E-991453B464B2}"/>
              </a:ext>
            </a:extLst>
          </p:cNvPr>
          <p:cNvSpPr/>
          <p:nvPr/>
        </p:nvSpPr>
        <p:spPr>
          <a:xfrm>
            <a:off x="228600" y="1481328"/>
            <a:ext cx="8686800" cy="3456432"/>
          </a:xfrm>
          <a:prstGeom prst="roundRect">
            <a:avLst>
              <a:gd name="adj" fmla="val 1323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613B53-DBCA-5E6D-4737-0DC3DAE55446}"/>
              </a:ext>
            </a:extLst>
          </p:cNvPr>
          <p:cNvSpPr/>
          <p:nvPr/>
        </p:nvSpPr>
        <p:spPr>
          <a:xfrm>
            <a:off x="411480" y="900440"/>
            <a:ext cx="8321040" cy="396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@Age INT = 10;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@Age &gt;= 18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N'სრულწლოვანი';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N'არასრულწლოვანი';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@i INT =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@i &lt;=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N'ნაბიჯი: ' + CAST(@i AS NVARCHAR(10));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@i = @i + 1;</a:t>
            </a:r>
            <a:endParaRPr lang="en-US" sz="1100" dirty="0"/>
          </a:p>
          <a:p>
            <a:pPr marL="0" indent="0">
              <a:buNone/>
            </a:pPr>
            <a:r>
              <a:rPr lang="en-US" sz="110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ka-GE" sz="1100">
              <a:solidFill>
                <a:srgbClr val="1E3A5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ka-GE" sz="1100">
              <a:solidFill>
                <a:srgbClr val="1E3A5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ka-GE" sz="1100">
                <a:solidFill>
                  <a:srgbClr val="1E3A5F"/>
                </a:solidFill>
              </a:rPr>
              <a:t>-------------------------------------------------------------</a:t>
            </a:r>
          </a:p>
          <a:p>
            <a:r>
              <a:rPr lang="ka-GE" sz="1000"/>
              <a:t>თუ SQL-ს ეტყვით, რომ ერთმანეთს </a:t>
            </a:r>
            <a:r>
              <a:rPr lang="ka-GE" sz="1000" b="1"/>
              <a:t>ტექსტი და რიცხვი</a:t>
            </a:r>
            <a:r>
              <a:rPr lang="ka-GE" sz="1000"/>
              <a:t> მიუმატოს (+), ის დაიბნევა. SQL იფიქრებს, რომ მათემატიკური მიმატება გსურთ, ტექსტს ციფრს ვერ მიუმატებს და ამოაგდებს შეცდომას: </a:t>
            </a:r>
            <a:r>
              <a:rPr lang="ka-GE" sz="1000" i="1"/>
              <a:t>"Conversion failed when converting the nvarchar value... to data type int."</a:t>
            </a:r>
            <a:endParaRPr lang="ka-GE" sz="1000"/>
          </a:p>
          <a:p>
            <a:endParaRPr lang="ka-GE" sz="1200" b="1"/>
          </a:p>
          <a:p>
            <a:r>
              <a:rPr lang="ka-GE" sz="1000" b="1"/>
              <a:t>CAST(@i AS NVARCHAR(10))</a:t>
            </a:r>
            <a:r>
              <a:rPr lang="ka-GE" sz="1000"/>
              <a:t> ეუბნება SQL-ს: </a:t>
            </a:r>
            <a:r>
              <a:rPr lang="ka-GE" sz="1000" i="1"/>
              <a:t>"აიღე რიცხვი @i (მაგალითად, 1) და დროებით წარმოიდგინე, რომ ის არის ჩვეულებრივი ტექსტი, რომელიც მაქსიმუმ 10 სიმბოლოსგან შედგება"</a:t>
            </a:r>
            <a:r>
              <a:rPr lang="ka-GE" sz="1000"/>
              <a:t>.</a:t>
            </a:r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3023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კომენტარები, GO და სკრიპტის სტრუქტურა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869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a-GE" sz="1200" b="1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1. კომენტარები SQL-ში (Comments):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კომენტარები გამოიყენება კოდის განმარტებისთვის. მათ SQL სერვერი არ ასრულებს.</a:t>
            </a:r>
          </a:p>
          <a:p>
            <a:pPr lvl="0"/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ერთხაზიანი კომენტარი: იწყება ორი ტირეთი (--). კოდის ეს ხაზი მწვანდება და არ სრულდება.</a:t>
            </a:r>
          </a:p>
          <a:p>
            <a:pPr lvl="0" algn="just"/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მრავალხაზიანი კომენტარი: იწყება /* სიმბოლოებით და მთავრდება */-ით. გამოიყენება დიდი ტექსტების დასამალად.</a:t>
            </a:r>
          </a:p>
          <a:p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-- ეს არის ერთხაზიანი კომენტარი</a:t>
            </a:r>
          </a:p>
          <a:p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/* ეს არის მრავალხაზიანი</a:t>
            </a:r>
          </a:p>
          <a:p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   კომენტარი სტუდენტებისთვის */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ka-GE" sz="1200" b="1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2. ბრძანება GO (Batch)</a:t>
            </a:r>
          </a:p>
          <a:p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GO არ არის SQL ბრძანება, ის არის კლიენტის (მაგ. SSMS) დირექტივა. ის კოდს ყოფს ცალკეულ ბლოკებად (Batch-ებად) და მათ სერვერზე სათითაოდ გზავნის.</a:t>
            </a:r>
          </a:p>
          <a:p>
            <a:pPr lvl="0"/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მნიშვნელოვანი წესი: ზოგიერთი ბრძანება (მაგალითად, CREATE PROCEDURE, CREATE VIEW, CREATE TRIGGER) აუცილებლად უნდა იყოს ბლოკის (Batch)-ის სულ პირველ ხაზზე. წინააღმდეგ შემთხვევაში, SQL შეცდომას გამოიტანს.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ka-GE" sz="1200">
              <a:solidFill>
                <a:srgbClr val="2C2C2C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ka-GE" sz="1200" b="1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3. სკრიპტის რეკომენდებული სტრუქტურა: სწორად დაწერილი T-SQL სკრიპტი უნდა მიჰყვებოდეს ამ თანმიმდევრობას:</a:t>
            </a:r>
          </a:p>
          <a:p>
            <a:pPr lvl="0"/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ბაზის არჩევა: USE ბაზის_სახელი;</a:t>
            </a:r>
          </a:p>
          <a:p>
            <a:pPr lvl="0"/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გამოყოფა: GO</a:t>
            </a:r>
          </a:p>
          <a:p>
            <a:pPr lvl="0"/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ოპერაციები: ძირითადი კოდი</a:t>
            </a:r>
          </a:p>
          <a:p>
            <a:pPr lvl="0"/>
            <a:r>
              <a:rPr lang="ka-GE" sz="12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შეცდომების მართვა: TRY / CATCH ბლოკი (უსაფრთხოებისთვოს)</a:t>
            </a:r>
          </a:p>
          <a:p>
            <a:pPr>
              <a:spcAft>
                <a:spcPts val="500"/>
              </a:spcAft>
              <a:buSzPct val="100000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ka-GE" sz="10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4</a:t>
            </a:r>
            <a:r>
              <a:rPr lang="ka-GE" sz="1000" b="1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. რა ახასიათებს კარგ სკრიპტს?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(Best Practices): გასაგები სახელები: ცვლადებსა და ობიექტებს უნდა ერქვათ აზრიანი სახელები.</a:t>
            </a:r>
          </a:p>
          <a:p>
            <a:pPr lvl="0"/>
            <a:r>
              <a:rPr lang="ka-GE" sz="10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კომენტარები: რთული ლოგიკის მქონე ადგილებში აუცილებლად უნდა ეწეროს განმარტება.</a:t>
            </a:r>
          </a:p>
          <a:p>
            <a:pPr lvl="0"/>
            <a:r>
              <a:rPr lang="ka-GE" sz="1000">
                <a:solidFill>
                  <a:srgbClr val="2C2C2C"/>
                </a:solidFill>
                <a:latin typeface="Calibri" pitchFamily="34" charset="0"/>
                <a:cs typeface="Calibri" pitchFamily="34" charset="-120"/>
              </a:rPr>
              <a:t>იდემპოტენტურობა (Idempotency): სკრიპტი ისე უნდა იყოს დაწერილი, რომ მისი ხელახლა გაშვებისას (თუნდაც 5-ჯერ) კოდმა შეცდომა არ ამოაგდოს და ბაზა არ დააზიანოს (მაგალითად, ცხრილის შექმნამდე ყოველთვის უნდა შემოწმდეს, არსებობს თუ არა ის უკვე ბაზაში).</a:t>
            </a:r>
          </a:p>
          <a:p>
            <a:br>
              <a:rPr lang="ka-GE" sz="1200"/>
            </a:br>
            <a:endParaRPr lang="ka-GE" sz="1200"/>
          </a:p>
          <a:p>
            <a:pPr>
              <a:spcAft>
                <a:spcPts val="500"/>
              </a:spcAft>
              <a:buSzPct val="100000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39D5-62FD-B215-6980-B2AD250B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F967AC-D38F-CEFD-F23D-D1614124E43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4F60AE-DA43-143E-6037-B79E212FABE1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776CAA-D6D1-8270-9080-8712B2C9337C}"/>
              </a:ext>
            </a:extLst>
          </p:cNvPr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კომენტარები, GO და </a:t>
            </a:r>
            <a:r>
              <a:rPr lang="en-US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სკრიპტის სტრუქტურა</a:t>
            </a:r>
            <a:r>
              <a:rPr lang="ka-GE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მაგალითები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802986-130E-AA10-B1B5-4EC3E9DB131B}"/>
              </a:ext>
            </a:extLst>
          </p:cNvPr>
          <p:cNvSpPr/>
          <p:nvPr/>
        </p:nvSpPr>
        <p:spPr>
          <a:xfrm>
            <a:off x="274320" y="548640"/>
            <a:ext cx="8869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a-GE" sz="1000" b="1"/>
              <a:t>-- ბლოკი 1: ვქმნით ცხრილს </a:t>
            </a:r>
          </a:p>
          <a:p>
            <a:r>
              <a:rPr lang="ka-GE" sz="1000"/>
              <a:t>CREATE TABLE Products ( ID INT, Name NVARCHAR(50) ); </a:t>
            </a:r>
          </a:p>
          <a:p>
            <a:r>
              <a:rPr lang="ka-GE" sz="1000"/>
              <a:t>GO -- აქ სრულდება პირველი ბლოკი და იწყება ახალი </a:t>
            </a:r>
          </a:p>
          <a:p>
            <a:r>
              <a:rPr lang="ka-GE" sz="1000" b="1"/>
              <a:t>ბლოკი 2: ცხრილი უკვე მზადაა, ამიტომ მონაცემი უშეცდომოდ ჩაიწერება </a:t>
            </a:r>
          </a:p>
          <a:p>
            <a:r>
              <a:rPr lang="ka-GE" sz="1000"/>
              <a:t>INSERT INTO Products (ID, Name) VALUES (1, N'ლეპტოპი’); </a:t>
            </a:r>
          </a:p>
          <a:p>
            <a:endParaRPr lang="ka-GE" sz="10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ka-GE" sz="1000" b="1"/>
              <a:t>პრაქტიკული სცენარი</a:t>
            </a:r>
            <a:r>
              <a:rPr lang="ka-GE" sz="1000"/>
              <a:t>, სადაც ოთხივე წესი ერთად არის გამოყენებული.</a:t>
            </a:r>
          </a:p>
          <a:p>
            <a:r>
              <a:rPr lang="ka-GE" sz="1000"/>
              <a:t>სცენარი: წარმოვიდგინოთ, რომ გვინდა შევქმნათ სტუდენტების ბაზა, მასში ახალი ცხრილი და ჩავწეროთ მონაცემები უსაფრთხოდ.</a:t>
            </a:r>
          </a:p>
          <a:p>
            <a:r>
              <a:rPr lang="ka-GE" sz="900"/>
              <a:t>/* </a:t>
            </a:r>
          </a:p>
          <a:p>
            <a:r>
              <a:rPr lang="ka-GE" sz="900"/>
              <a:t>   ==================================================</a:t>
            </a:r>
          </a:p>
          <a:p>
            <a:r>
              <a:rPr lang="ka-GE" sz="900"/>
              <a:t>   სასწავლო სკრიპტი სტუდენტების ბაზის მოსამზადებლად</a:t>
            </a:r>
          </a:p>
          <a:p>
            <a:r>
              <a:rPr lang="ka-GE" sz="900"/>
              <a:t>   ავტორი: ლექტორი</a:t>
            </a:r>
          </a:p>
          <a:p>
            <a:r>
              <a:rPr lang="ka-GE" sz="900"/>
              <a:t>   ==================================================</a:t>
            </a:r>
          </a:p>
          <a:p>
            <a:r>
              <a:rPr lang="ka-GE" sz="900"/>
              <a:t>*/</a:t>
            </a:r>
          </a:p>
          <a:p>
            <a:r>
              <a:rPr lang="ka-GE" sz="900" b="1"/>
              <a:t>-- 1. რეკომენდებული სტრუქტურა: ვირჩევთ ბაზას, სადაც გვინდა მუშაობა</a:t>
            </a:r>
          </a:p>
          <a:p>
            <a:r>
              <a:rPr lang="en-US" sz="900"/>
              <a:t>USE master;</a:t>
            </a:r>
          </a:p>
          <a:p>
            <a:r>
              <a:rPr lang="en-US" sz="900"/>
              <a:t>GO -- </a:t>
            </a:r>
            <a:r>
              <a:rPr lang="ka-GE" sz="900"/>
              <a:t>ბლოკი 1: ბაზის გადართვა დასრულდა</a:t>
            </a:r>
          </a:p>
          <a:p>
            <a:endParaRPr lang="ka-GE" sz="900"/>
          </a:p>
          <a:p>
            <a:r>
              <a:rPr lang="ka-GE" sz="900" b="1"/>
              <a:t>-- 2. შედარება: თუ ბაზა '</a:t>
            </a:r>
            <a:r>
              <a:rPr lang="en-US" sz="900" b="1"/>
              <a:t>UniversityDB' </a:t>
            </a:r>
            <a:r>
              <a:rPr lang="ka-GE" sz="900" b="1"/>
              <a:t>უკვე არსებობს, ვშლით, რომ შეცდომა არ ამოაგდოს</a:t>
            </a:r>
          </a:p>
          <a:p>
            <a:r>
              <a:rPr lang="en-US" sz="900"/>
              <a:t>IF EXISTS (SELECT * FROM sys.databases WHERE name = 'UniversityDB')</a:t>
            </a:r>
          </a:p>
          <a:p>
            <a:r>
              <a:rPr lang="en-US" sz="900"/>
              <a:t>BEGIN</a:t>
            </a:r>
          </a:p>
          <a:p>
            <a:r>
              <a:rPr lang="en-US" sz="900"/>
              <a:t>    DROP DATABASE UniversityDB;</a:t>
            </a:r>
          </a:p>
          <a:p>
            <a:r>
              <a:rPr lang="en-US" sz="900"/>
              <a:t>    PRINT N'</a:t>
            </a:r>
            <a:r>
              <a:rPr lang="ka-GE" sz="900"/>
              <a:t>ძველი ბაზა ნაპოვნია და წაიშალა.';</a:t>
            </a:r>
          </a:p>
          <a:p>
            <a:r>
              <a:rPr lang="en-US" sz="900"/>
              <a:t>END</a:t>
            </a:r>
          </a:p>
          <a:p>
            <a:r>
              <a:rPr lang="en-US" sz="900"/>
              <a:t>GO -- </a:t>
            </a:r>
            <a:r>
              <a:rPr lang="ka-GE" sz="900"/>
              <a:t>ბლოკი 2: წაშლის ლოგიკა დასრულდა</a:t>
            </a:r>
          </a:p>
          <a:p>
            <a:endParaRPr lang="ka-GE" sz="900"/>
          </a:p>
          <a:p>
            <a:r>
              <a:rPr lang="ka-GE" sz="900" b="1"/>
              <a:t>-- ვქმნით ახალ სუფთა ბაზას</a:t>
            </a:r>
          </a:p>
          <a:p>
            <a:r>
              <a:rPr lang="en-US" sz="900"/>
              <a:t>CREATE DATABASE UniversityDB;</a:t>
            </a:r>
          </a:p>
          <a:p>
            <a:r>
              <a:rPr lang="en-US" sz="900"/>
              <a:t>GO -- </a:t>
            </a:r>
            <a:r>
              <a:rPr lang="ka-GE" sz="900"/>
              <a:t>ბლოკი 3: ბაზა შეიქმნა</a:t>
            </a:r>
          </a:p>
          <a:p>
            <a:r>
              <a:rPr lang="en-US" sz="900"/>
              <a:t>USE UniversityDB;</a:t>
            </a:r>
          </a:p>
          <a:p>
            <a:r>
              <a:rPr lang="en-US" sz="900"/>
              <a:t>GO -- </a:t>
            </a:r>
            <a:r>
              <a:rPr lang="ka-GE" sz="900"/>
              <a:t>ბლოკი 4: გადავედით ახალ ბაზაში</a:t>
            </a:r>
          </a:p>
        </p:txBody>
      </p:sp>
    </p:spTree>
    <p:extLst>
      <p:ext uri="{BB962C8B-B14F-4D97-AF65-F5344CB8AC3E}">
        <p14:creationId xmlns:p14="http://schemas.microsoft.com/office/powerpoint/2010/main" val="12773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E060B-EA75-2A87-C198-DB704176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B9323B-AB01-8E0C-C015-2AFE72C304D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AAE22C-4B9E-7E6B-8A85-026DFDC54A6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E34B9A-6811-728F-97E1-0304916F7A6F}"/>
              </a:ext>
            </a:extLst>
          </p:cNvPr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კომენტარები, GO და </a:t>
            </a:r>
            <a:r>
              <a:rPr lang="en-US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სკრიპტის სტრუქტურა</a:t>
            </a:r>
            <a:r>
              <a:rPr lang="ka-GE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მაგალითები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2BA58A-4C74-8B3F-77D9-27CC9D7D0C05}"/>
              </a:ext>
            </a:extLst>
          </p:cNvPr>
          <p:cNvSpPr/>
          <p:nvPr/>
        </p:nvSpPr>
        <p:spPr>
          <a:xfrm>
            <a:off x="274320" y="548640"/>
            <a:ext cx="8869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a-GE" sz="900" b="1"/>
              <a:t>-- 3. ბრძანება </a:t>
            </a:r>
            <a:r>
              <a:rPr lang="en-US" sz="900" b="1"/>
              <a:t>GO-</a:t>
            </a:r>
            <a:r>
              <a:rPr lang="ka-GE" sz="900" b="1"/>
              <a:t>ს აუცილებლობა: ცხრილის შექმნა აუცილებლად ცალკე ბლოკში უნდა მოხდეს</a:t>
            </a:r>
          </a:p>
          <a:p>
            <a:r>
              <a:rPr lang="en-US" sz="900"/>
              <a:t>CREATE TABLE Students (</a:t>
            </a:r>
          </a:p>
          <a:p>
            <a:r>
              <a:rPr lang="en-US" sz="900"/>
              <a:t>    StudentID INT PRIMARY KEY,</a:t>
            </a:r>
          </a:p>
          <a:p>
            <a:r>
              <a:rPr lang="en-US" sz="900"/>
              <a:t>    FullName NVARCHAR(100),</a:t>
            </a:r>
          </a:p>
          <a:p>
            <a:r>
              <a:rPr lang="en-US" sz="900"/>
              <a:t>    EnrollmentDate DATE</a:t>
            </a:r>
          </a:p>
          <a:p>
            <a:r>
              <a:rPr lang="en-US" sz="900"/>
              <a:t>);</a:t>
            </a:r>
          </a:p>
          <a:p>
            <a:r>
              <a:rPr lang="en-US" sz="900"/>
              <a:t>GO -- </a:t>
            </a:r>
            <a:r>
              <a:rPr lang="ka-GE" sz="900"/>
              <a:t>ბლოკი 5: ცხრილი შეიქმნა და მზად არის მონაცემების მისაღებად</a:t>
            </a:r>
          </a:p>
          <a:p>
            <a:endParaRPr lang="ka-GE" sz="900"/>
          </a:p>
          <a:p>
            <a:r>
              <a:rPr lang="ka-GE" sz="900" b="1"/>
              <a:t>-- 4. შეცდომების მართვა (</a:t>
            </a:r>
            <a:r>
              <a:rPr lang="en-US" sz="900" b="1"/>
              <a:t>TRY/CATCH): </a:t>
            </a:r>
            <a:r>
              <a:rPr lang="ka-GE" sz="900" b="1"/>
              <a:t>მონაცემების უსაფრთხო ჩაწერა</a:t>
            </a:r>
          </a:p>
          <a:p>
            <a:r>
              <a:rPr lang="en-US" sz="900"/>
              <a:t>BEGIN TRY</a:t>
            </a:r>
          </a:p>
          <a:p>
            <a:r>
              <a:rPr lang="en-US" sz="900"/>
              <a:t>    -- </a:t>
            </a:r>
            <a:r>
              <a:rPr lang="ka-GE" sz="900"/>
              <a:t>ვცდილობთ სტუდენტის ჩაწერას</a:t>
            </a:r>
          </a:p>
          <a:p>
            <a:r>
              <a:rPr lang="ka-GE" sz="900"/>
              <a:t>    </a:t>
            </a:r>
            <a:r>
              <a:rPr lang="en-US" sz="900"/>
              <a:t>INSERT INTO Students (StudentID, FullName, EnrollmentDate)</a:t>
            </a:r>
          </a:p>
          <a:p>
            <a:r>
              <a:rPr lang="en-US" sz="900"/>
              <a:t>    VALUES (1, N'</a:t>
            </a:r>
            <a:r>
              <a:rPr lang="ka-GE" sz="900"/>
              <a:t>გიორგი ბერიძე', </a:t>
            </a:r>
            <a:r>
              <a:rPr lang="en-US" sz="900"/>
              <a:t>GETDATE());</a:t>
            </a:r>
          </a:p>
          <a:p>
            <a:r>
              <a:rPr lang="en-US" sz="900"/>
              <a:t>    </a:t>
            </a:r>
          </a:p>
          <a:p>
            <a:r>
              <a:rPr lang="en-US" sz="900" b="1"/>
              <a:t>    -- </a:t>
            </a:r>
            <a:r>
              <a:rPr lang="ka-GE" sz="900" b="1"/>
              <a:t>ერთხაზიანი კომენტარი: წარმატების შეტყობინება დეველოპერისთვის</a:t>
            </a:r>
          </a:p>
          <a:p>
            <a:r>
              <a:rPr lang="ka-GE" sz="900"/>
              <a:t>    </a:t>
            </a:r>
            <a:r>
              <a:rPr lang="en-US" sz="900"/>
              <a:t>PRINT N'</a:t>
            </a:r>
            <a:r>
              <a:rPr lang="ka-GE" sz="900"/>
              <a:t>სტუდენტი წარმატებით დაემატა!';</a:t>
            </a:r>
          </a:p>
          <a:p>
            <a:r>
              <a:rPr lang="en-US" sz="900"/>
              <a:t>END TRY</a:t>
            </a:r>
          </a:p>
          <a:p>
            <a:r>
              <a:rPr lang="en-US" sz="900"/>
              <a:t>BEGIN CATCH</a:t>
            </a:r>
          </a:p>
          <a:p>
            <a:r>
              <a:rPr lang="en-US" sz="900"/>
              <a:t>    -- </a:t>
            </a:r>
            <a:r>
              <a:rPr lang="ka-GE" sz="900"/>
              <a:t>თუ რამე აირია (მაგ. </a:t>
            </a:r>
            <a:r>
              <a:rPr lang="en-US" sz="900"/>
              <a:t>ID </a:t>
            </a:r>
            <a:r>
              <a:rPr lang="ka-GE" sz="900"/>
              <a:t>განმეორდა), კოდი არ გაითიშება, არამედ აქ შემოვა</a:t>
            </a:r>
          </a:p>
          <a:p>
            <a:r>
              <a:rPr lang="ka-GE" sz="900"/>
              <a:t>    </a:t>
            </a:r>
            <a:r>
              <a:rPr lang="en-US" sz="900"/>
              <a:t>PRINT N'</a:t>
            </a:r>
            <a:r>
              <a:rPr lang="ka-GE" sz="900"/>
              <a:t>დაფიქსირდა შეცდომა მონაცემის ჩაწერისას!';</a:t>
            </a:r>
          </a:p>
          <a:p>
            <a:r>
              <a:rPr lang="ka-GE" sz="900"/>
              <a:t>    </a:t>
            </a:r>
            <a:r>
              <a:rPr lang="en-US" sz="900"/>
              <a:t>PRINT N'</a:t>
            </a:r>
            <a:r>
              <a:rPr lang="ka-GE" sz="900"/>
              <a:t>შეცდომის მესიჯი: ' + </a:t>
            </a:r>
            <a:r>
              <a:rPr lang="en-US" sz="900"/>
              <a:t>ERROR_MESSAGE();</a:t>
            </a:r>
          </a:p>
          <a:p>
            <a:r>
              <a:rPr lang="en-US" sz="900"/>
              <a:t>END CATCH;</a:t>
            </a:r>
          </a:p>
          <a:p>
            <a:r>
              <a:rPr lang="en-US" sz="900"/>
              <a:t>GO -- </a:t>
            </a:r>
            <a:r>
              <a:rPr lang="ka-GE" sz="900"/>
              <a:t>ბლოკი 6: სკრიპტი დასრულდა</a:t>
            </a:r>
            <a:endParaRPr lang="ka-GE" sz="9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1986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სისტემური კატალოგი და მეტამონაცემები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49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  <a:buSzPct val="100000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რა არის სისტემური ხედები (</a:t>
            </a: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Views)?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Server-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 ბაზებისა და სერვერის შესახებ ინფორმაციის მისაღებად გამოიყენება სპეციალური ჩაშენებული ხედები (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Views):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sys.* </a:t>
            </a: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ხედები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Server-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ის სპეციფიკური, სისტემური ხედები, რომლებიც პირდაპირ სერვერის არქიტექტურიდან კითხულობენ ინფორმაციას. 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INFORMATION_SCHEMA </a:t>
            </a: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ხედები: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საერთაშორისო სტანდარტის (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SQL)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შესაბამისი ხედები. ისინი უფრო უნივერსალურია და სხვადასხვა მონაცემთა ბაზებში (მაგ.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MySQL)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მსგავსად მუშაობენ.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რა არის მეტამონაცემები?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ეს არის „მონაცემები მონაცემების შესახებ“. ამ ხედების საშუალებით ჩვენ ვხედავთ არა თავად მომხმარებლის ჩანაწერებს, არამედ ბაზის სტრუქტურას: რა ბაზები, ცხრილები, სვეტები ან მონაცემთა ტიპები არსებობს სერვერზე.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რისთვის გამოიყენება მეტამონაცემები პრაქტიკაში?</a:t>
            </a:r>
          </a:p>
          <a:p>
            <a:pPr>
              <a:spcAft>
                <a:spcPts val="300"/>
              </a:spcAft>
              <a:buSzPct val="100000"/>
            </a:pP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სისტემური ხედებიდან ინფორმაციის წაკითხვა კრიტიკულად მნიშვნელოვანია 3 მთავარი მიზნისთვის: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ka-GE" sz="12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ობიექტის არსებობის შემოწმება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Idempotency):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სანამ ახალ ცხრილს შევქმნით ან წავშლით, ამ ხედებში ვამოწმებთ, საერთოდ არსებობს თუ არა ის ბაზაში, რათა კოდმა შეცდომა (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Error)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არ ამოაგდოს.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სქემის დოკუმენტაცია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ბაზის სტრუქტურის სრული რუკის, ცხრილებისა და სვეტების სიის ავტომატური გენერირება ანალიზისთვის.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a-GE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დინამიური სკრიპტები (</a:t>
            </a:r>
            <a:r>
              <a:rPr lang="en-US" sz="12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SQL):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ისეთი ჭკვიანი სკრიპტების წერა, რომლებიც თავად იგებენ ბაზის სტრუქტურას და ავტომატურად აგენერირებენ საჭირო </a:t>
            </a: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</a:t>
            </a:r>
            <a:r>
              <a:rPr lang="ka-GE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ბრძანებებს.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4AC0-58C6-9CB6-DFB3-7BB66899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8CF77F-D4CB-68E7-D738-8BFBA9BE388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84DBE1-C5D3-8290-FCE4-93541336B4A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3CCBC8-3756-6686-AFBE-F8E58BA81CD2}"/>
              </a:ext>
            </a:extLst>
          </p:cNvPr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სისტემური კატალოგი </a:t>
            </a: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და მეტამონაცემები</a:t>
            </a:r>
            <a:r>
              <a:rPr lang="ka-GE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მაგალითი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03B3A5-7FBE-870C-7105-2BEF8FD9485F}"/>
              </a:ext>
            </a:extLst>
          </p:cNvPr>
          <p:cNvSpPr/>
          <p:nvPr/>
        </p:nvSpPr>
        <p:spPr>
          <a:xfrm>
            <a:off x="274320" y="594360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sys.* და INFORMATION_SCHEMA ხედები აჩვენებენ სერვერისა და ბაზის მეტამონაცემებს: ბაზები, ცხრილები, სვეტები.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ეს სასარგებლოა ობიექტის არსებობის შემოწმებისთვის, სქემის დოკუმენტაციისა და დინამიური სკრიპტებისთვის.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BCFF9E-1382-FFC1-B567-518807F6292B}"/>
              </a:ext>
            </a:extLst>
          </p:cNvPr>
          <p:cNvSpPr/>
          <p:nvPr/>
        </p:nvSpPr>
        <p:spPr>
          <a:xfrm>
            <a:off x="228600" y="1481328"/>
            <a:ext cx="8686800" cy="3456432"/>
          </a:xfrm>
          <a:prstGeom prst="roundRect">
            <a:avLst>
              <a:gd name="adj" fmla="val 1323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7D3668-917F-6DCC-E3E8-EB82DBA7D9A3}"/>
              </a:ext>
            </a:extLst>
          </p:cNvPr>
          <p:cNvSpPr/>
          <p:nvPr/>
        </p:nvSpPr>
        <p:spPr>
          <a:xfrm>
            <a:off x="411480" y="1591056"/>
            <a:ext cx="832104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sys.databases;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sys.tables WHERE schema_id = SCHEMA_ID('dbo');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COLUMN_NAME, DATA_TYPE, IS_NULLABLE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INFORMATION_SCHEMA.COLUMNS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TABLE_NAME = 'Customers';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35832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a-GE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პრაქტიკული რჩევები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782" y="548640"/>
            <a:ext cx="879289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ქართული შრიფტის და იუნიკოდის (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Unicode) </a:t>
            </a: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მართვა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ოქროს წესი: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ქართული ან ნებისმიერი სხვა არალათინური ტექსტის გამოყენებისას ყოველთვის აირჩიეთ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მონაცემთა ტიპი.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სავალდებულო პრეფიქსი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მონაცემების ჩაწერისას, განახლებისას ან შედარებისას ტექსტს წინ აუცილებლად დაუწერეთ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ასო (მაგალითად: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გიორგი'). წინააღმდეგ შემთხვევაში, ბაზაში ქართული ასოების ნაცვლად ჩაიწერება კითხვის ნიშნები (???).</a:t>
            </a:r>
          </a:p>
          <a:p>
            <a:pPr>
              <a:spcBef>
                <a:spcPts val="600"/>
              </a:spcBef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მონაცემთა ტიპების უსაფრთხო გარდაქმნა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</a:t>
            </a: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და 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გამოიყენეთ ეს ფუნქციები მონაცემთა ტიპების თავსებადობისთვის (მაგალითად, რიცხვის ტექსტთან მისამატებლად).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განსაკუთრებული ყურადღება თარიღებზე: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თარიღების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DATETIME)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კონვერტაციისას ყოველთვის მიაქციეთ ყურადღება რეგიონალურ ფორმატს (მაგ.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YYYY-MM-DD),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რათა სერვერმა დღე და თვე ერთმანეთში არ აურიოს. უსაფრთხოებისთვის უმჯობესია გამოიყენოთ 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ფუნქცია მითითებული სტილის კოდით.</a:t>
            </a:r>
          </a:p>
          <a:p>
            <a:pPr>
              <a:spcBef>
                <a:spcPts val="600"/>
              </a:spcBef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მონაცემების დროებითი შენახვა (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Storage)</a:t>
            </a: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საჭიროებიდან გამომდინარე, 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T-SQL-</a:t>
            </a: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ში დროებითი მონაცემების შესანახად გვაქვს 3 სხვადასხვა ინსტრუმენტი: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ლოკალური დროებითი ცხრილი (#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TempTable)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იქმნება ერთი დიეზით (#). ხელმისაწვდომია მხოლოდ იმ კონკრეტულ ფანჯარაში (სესიაში), სადაც შეიქმნა. ფანჯრის დახურვისას ავტომატურად იშლება.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გლობალური დროებითი ცხრილი (##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GlobalTable):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იქმნება ორი დიეზით (##). ხელმისაწვდომია სერვერზე მყოფი ყველა მომხმარებლისთვის. იშლება მაშინ, როდესაც მასზე წვდომის მქონე ყველა ფანჯარა დაიხურება.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ცხრილის ცვლადი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@MyTable TABLE):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ინახება ოპერატიულ მეხსიერებაში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RAM).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გამოიყენება მცირე მოცულობის მონაცემებისთვის და მისი მოქმედების არეალი შემოიფარგლება მხოლოდ იმ კოდის ბლოკით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Batch),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სადაც ის გამოცხადდა.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ka-GE" sz="100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500"/>
              </a:spcAft>
              <a:buSzPct val="100000"/>
            </a:pPr>
            <a:r>
              <a:rPr lang="ka-GE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უსაფრთხოების მთავარი წესი (</a:t>
            </a:r>
            <a:r>
              <a:rPr lang="en-US" sz="10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არასოდეს გატესტოთ კოდი რეალურ ინსფრასტრუქტურაში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ნებისმიერი ახალი სკრიპტი, ციკლი თუ ბრძანება ჯერ ყოველთვის შეამოწმეთ და გაუშვით სატესტო გარემოში (</a:t>
            </a:r>
            <a:r>
              <a:rPr lang="en-US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/ Test Environment). </a:t>
            </a:r>
            <a:r>
              <a:rPr lang="ka-GE" sz="10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მხოლოდ მას შემდეგ, რაც დარწმუნდებით მის სისწორეში, გადაიტანეთ ის მთავარ, მომუშავე ბაზაზე.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2953</Words>
  <Application>Microsoft Office PowerPoint</Application>
  <PresentationFormat>On-screen Show (16:9)</PresentationFormat>
  <Paragraphs>307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Soso Kartvelishvili</cp:lastModifiedBy>
  <cp:revision>37</cp:revision>
  <dcterms:created xsi:type="dcterms:W3CDTF">2026-08-31T08:03:35Z</dcterms:created>
  <dcterms:modified xsi:type="dcterms:W3CDTF">2026-09-23T06:28:26Z</dcterms:modified>
</cp:coreProperties>
</file>