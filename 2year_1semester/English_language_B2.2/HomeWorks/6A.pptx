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ba18032a206f65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ba18032a206f65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5ba18032a206f65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5ba18032a206f65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5ba18032a206f65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5ba18032a206f65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ba18032a206f65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5ba18032a206f6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5ba18032a206f65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5ba18032a206f65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5ba18032a206f65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5ba18032a206f65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12057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What controls our sleep?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2350" y="1061025"/>
            <a:ext cx="9071700" cy="96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light – age – work – phones – food – exercise – medicine – stress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1700" y="2387275"/>
            <a:ext cx="7644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Which three things have the biggest effect on sleep?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How might they affect our body clock?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Which of your ideas do you think a scientist would agree with?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Which ideas are you unsure about?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226974" cy="19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85825"/>
            <a:ext cx="3348174" cy="3157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509825" y="300175"/>
            <a:ext cx="56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659900" y="115450"/>
            <a:ext cx="55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463625" y="57725"/>
            <a:ext cx="5703600" cy="5640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Night shift </a:t>
            </a:r>
            <a:r>
              <a:rPr lang="en" sz="1200"/>
              <a:t>a period of work during the night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Figure </a:t>
            </a:r>
            <a:r>
              <a:rPr lang="en" sz="1200"/>
              <a:t>a number or statistic that represents an amount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increase significantly </a:t>
            </a:r>
            <a:r>
              <a:rPr lang="en" sz="1200"/>
              <a:t>to become considerably greater in amount, number or level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adapt to </a:t>
            </a:r>
            <a:r>
              <a:rPr lang="en" sz="1200"/>
              <a:t>to change in order to become suitable for a new situation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Disruption </a:t>
            </a:r>
            <a:r>
              <a:rPr lang="en" sz="1200"/>
              <a:t>an interruption that prevents something from continuing normally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lack of </a:t>
            </a:r>
            <a:r>
              <a:rPr lang="en" sz="1200"/>
              <a:t>not having enough of something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Consequence </a:t>
            </a:r>
            <a:r>
              <a:rPr lang="en" sz="1200"/>
              <a:t>a result of an action or situation, especially a negative result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up to </a:t>
            </a:r>
            <a:r>
              <a:rPr lang="en" sz="1200"/>
              <a:t>as much as; the maximum possible amount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Separate </a:t>
            </a:r>
            <a:r>
              <a:rPr lang="en" sz="1200"/>
              <a:t>to end a relationship or stop living together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Rate </a:t>
            </a:r>
            <a:r>
              <a:rPr lang="en" sz="1200"/>
              <a:t>he number or amount of something measured in relation to another amount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Significantly </a:t>
            </a:r>
            <a:r>
              <a:rPr lang="en" sz="1200"/>
              <a:t>by a large or important amount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be linked to </a:t>
            </a:r>
            <a:r>
              <a:rPr lang="en" sz="1200"/>
              <a:t>to have a connection with something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Disaster </a:t>
            </a:r>
            <a:r>
              <a:rPr lang="en" sz="1200"/>
              <a:t>a very serious event that causes great damage or suffering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Accident </a:t>
            </a:r>
            <a:r>
              <a:rPr lang="en" sz="1200"/>
              <a:t>an unexpected event that causes damage, injury or harm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on the roads </a:t>
            </a:r>
            <a:r>
              <a:rPr lang="en" sz="1200"/>
              <a:t>while travelling or driving on roads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useful expressions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sleep disruption</a:t>
            </a:r>
            <a:r>
              <a:rPr lang="en" sz="1100">
                <a:solidFill>
                  <a:schemeClr val="dk1"/>
                </a:solidFill>
              </a:rPr>
              <a:t> — interruption of a normal sleep pattern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lack of sleep</a:t>
            </a:r>
            <a:r>
              <a:rPr lang="en" sz="1100">
                <a:solidFill>
                  <a:schemeClr val="dk1"/>
                </a:solidFill>
              </a:rPr>
              <a:t> — not getting enough sleep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higher rates of</a:t>
            </a:r>
            <a:r>
              <a:rPr lang="en" sz="1100">
                <a:solidFill>
                  <a:schemeClr val="dk1"/>
                </a:solidFill>
              </a:rPr>
              <a:t> — greater numbers or levels of something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be linked to</a:t>
            </a:r>
            <a:r>
              <a:rPr lang="en" sz="1100">
                <a:solidFill>
                  <a:schemeClr val="dk1"/>
                </a:solidFill>
              </a:rPr>
              <a:t> — be connected with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be likely to do something</a:t>
            </a:r>
            <a:r>
              <a:rPr lang="en" sz="1100">
                <a:solidFill>
                  <a:schemeClr val="dk1"/>
                </a:solidFill>
              </a:rPr>
              <a:t> — probably do something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84700" y="3636825"/>
            <a:ext cx="665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4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198150" cy="22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8150" y="0"/>
            <a:ext cx="5439100" cy="22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90100" y="2342300"/>
            <a:ext cx="4256700" cy="27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care home </a:t>
            </a:r>
            <a:r>
              <a:rPr lang="en" sz="1200"/>
              <a:t>a place where people who need regular care live and are looked after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sleep pattern </a:t>
            </a:r>
            <a:r>
              <a:rPr lang="en" sz="1200"/>
              <a:t>the regular way in which a person sleeps and wakes</a:t>
            </a:r>
            <a:br>
              <a:rPr lang="en" sz="1200"/>
            </a:br>
            <a:br>
              <a:rPr lang="en" sz="1200"/>
            </a:b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body clock </a:t>
            </a:r>
            <a:r>
              <a:rPr lang="en" sz="1200"/>
              <a:t>the natural system that controls regular body activities such as sleeping and waking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628300" y="2499950"/>
            <a:ext cx="4538100" cy="30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Useful expressions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put up with something</a:t>
            </a:r>
            <a:r>
              <a:rPr lang="en" sz="1200">
                <a:solidFill>
                  <a:schemeClr val="dk1"/>
                </a:solidFill>
              </a:rPr>
              <a:t> = tolerate something unpleasant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distinguish between A and B</a:t>
            </a:r>
            <a:r>
              <a:rPr lang="en" sz="1200">
                <a:solidFill>
                  <a:schemeClr val="dk1"/>
                </a:solidFill>
              </a:rPr>
              <a:t> = recognise the difference between A and B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as a result</a:t>
            </a:r>
            <a:r>
              <a:rPr lang="en" sz="1200">
                <a:solidFill>
                  <a:schemeClr val="dk1"/>
                </a:solidFill>
              </a:rPr>
              <a:t> = because of this / consequently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be at odds with something</a:t>
            </a:r>
            <a:r>
              <a:rPr lang="en" sz="1200">
                <a:solidFill>
                  <a:schemeClr val="dk1"/>
                </a:solidFill>
              </a:rPr>
              <a:t> = be in conflict with something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struggle with something</a:t>
            </a:r>
            <a:r>
              <a:rPr lang="en" sz="1200">
                <a:solidFill>
                  <a:schemeClr val="dk1"/>
                </a:solidFill>
              </a:rPr>
              <a:t> = have difficulty dealing with something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524725" y="-78825"/>
            <a:ext cx="547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547250" cy="236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2075" y="0"/>
            <a:ext cx="5230401" cy="160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4875" y="1605925"/>
            <a:ext cx="4937600" cy="112010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0" y="2364850"/>
            <a:ext cx="5078700" cy="3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Impact </a:t>
            </a:r>
            <a:r>
              <a:rPr lang="en" sz="1200"/>
              <a:t>a strong effect or influence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Drug </a:t>
            </a:r>
            <a:r>
              <a:rPr lang="en" sz="1200"/>
              <a:t>a substance used as medicine to treat or prevent a </a:t>
            </a:r>
            <a:br>
              <a:rPr lang="en" sz="1200"/>
            </a:br>
            <a:r>
              <a:rPr lang="en" sz="1200"/>
              <a:t>medical condition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Aspirin </a:t>
            </a:r>
            <a:r>
              <a:rPr lang="en" sz="1200"/>
              <a:t>a common medicine used to reduce pain, fever and inflammation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blood-pressure pill </a:t>
            </a:r>
            <a:r>
              <a:rPr lang="en" sz="1200"/>
              <a:t>a medicine used to help control blood pressure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Apparently </a:t>
            </a:r>
            <a:r>
              <a:rPr lang="en" sz="1200"/>
              <a:t>according to what seems to be true or according to available information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Vaccine </a:t>
            </a:r>
            <a:r>
              <a:rPr lang="en" sz="1200"/>
              <a:t>a substance given to protect a person against a particular disease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be found to be </a:t>
            </a:r>
            <a:r>
              <a:rPr lang="en" sz="1200"/>
              <a:t>to be discovered or shown to have a particular quality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compared with </a:t>
            </a:r>
            <a:r>
              <a:rPr lang="en" sz="1200"/>
              <a:t>considered alongside something else in order to identify differences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977400" y="2782750"/>
            <a:ext cx="4256700" cy="2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Useful Expressions</a:t>
            </a:r>
            <a:br>
              <a:rPr b="1" lang="en" sz="1100">
                <a:solidFill>
                  <a:schemeClr val="dk1"/>
                </a:solidFill>
              </a:rPr>
            </a:b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be aware of something</a:t>
            </a:r>
            <a:r>
              <a:rPr lang="en" sz="1100">
                <a:solidFill>
                  <a:schemeClr val="dk1"/>
                </a:solidFill>
              </a:rPr>
              <a:t> = know or realise something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have an impact on something</a:t>
            </a:r>
            <a:r>
              <a:rPr lang="en" sz="1100">
                <a:solidFill>
                  <a:schemeClr val="dk1"/>
                </a:solidFill>
              </a:rPr>
              <a:t> = have a strong effect on something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effectiveness of something</a:t>
            </a:r>
            <a:r>
              <a:rPr lang="en" sz="1100">
                <a:solidFill>
                  <a:schemeClr val="dk1"/>
                </a:solidFill>
              </a:rPr>
              <a:t> = how successfully something produces the desired result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recommend doing something</a:t>
            </a:r>
            <a:r>
              <a:rPr lang="en" sz="1100">
                <a:solidFill>
                  <a:schemeClr val="dk1"/>
                </a:solidFill>
              </a:rPr>
              <a:t> = suggest doing something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065250" y="-56325"/>
            <a:ext cx="547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840025" cy="26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6024" y="0"/>
            <a:ext cx="4936826" cy="22648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101350" y="2894100"/>
            <a:ext cx="64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0" y="2646350"/>
            <a:ext cx="56787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Particularly </a:t>
            </a:r>
            <a:r>
              <a:rPr lang="en" sz="1200"/>
              <a:t>Especially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Myth </a:t>
            </a:r>
            <a:r>
              <a:rPr lang="en" sz="1200"/>
              <a:t>a widely believed idea that is not actually true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blue light </a:t>
            </a:r>
            <a:r>
              <a:rPr lang="en" sz="1200"/>
              <a:t>a type of visible light produced by sources such as electronic screens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Manufacturer </a:t>
            </a:r>
            <a:r>
              <a:rPr lang="en" sz="1200"/>
              <a:t>a company that makes products, usually in large quantities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Advertise </a:t>
            </a:r>
            <a:r>
              <a:rPr lang="en" sz="1200"/>
              <a:t>to tell people about a product or service in order to encourage them to buy or use  it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Stimulate </a:t>
            </a:r>
            <a:r>
              <a:rPr lang="en" sz="1200"/>
              <a:t>to make something, especially the brain or a physical process, more active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Biphasic </a:t>
            </a:r>
            <a:r>
              <a:rPr lang="en" sz="1200"/>
              <a:t>involving two separate phases or periods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Common </a:t>
            </a:r>
            <a:r>
              <a:rPr lang="en" sz="1200"/>
              <a:t>happening frequently or existing in large numbers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as long as </a:t>
            </a:r>
            <a:r>
              <a:rPr lang="en" sz="1200"/>
              <a:t>provided that; on the condition that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5702950" y="2447575"/>
            <a:ext cx="34605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Useful expressions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be encouraged to do something</a:t>
            </a:r>
            <a:r>
              <a:rPr lang="en" sz="1100">
                <a:solidFill>
                  <a:schemeClr val="dk1"/>
                </a:solidFill>
              </a:rPr>
              <a:t> = be made more likely to do something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avoid doing something</a:t>
            </a:r>
            <a:r>
              <a:rPr lang="en" sz="1100">
                <a:solidFill>
                  <a:schemeClr val="dk1"/>
                </a:solidFill>
              </a:rPr>
              <a:t> = deliberately not do something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stimulate the brain</a:t>
            </a:r>
            <a:r>
              <a:rPr lang="en" sz="1100">
                <a:solidFill>
                  <a:schemeClr val="dk1"/>
                </a:solidFill>
              </a:rPr>
              <a:t> = make the brain more active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used to do something</a:t>
            </a:r>
            <a:r>
              <a:rPr lang="en" sz="1100">
                <a:solidFill>
                  <a:schemeClr val="dk1"/>
                </a:solidFill>
              </a:rPr>
              <a:t> = did something regularly in the past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as long as</a:t>
            </a:r>
            <a:r>
              <a:rPr lang="en" sz="1100">
                <a:solidFill>
                  <a:schemeClr val="dk1"/>
                </a:solidFill>
              </a:rPr>
              <a:t> = provided that / on the condition that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390775" y="-68400"/>
            <a:ext cx="547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902374" cy="27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2375" y="0"/>
            <a:ext cx="5233407" cy="20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0" y="2754600"/>
            <a:ext cx="48831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Readable </a:t>
            </a:r>
            <a:r>
              <a:rPr lang="en" sz="1200"/>
              <a:t>easy or enjoyable to read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based on </a:t>
            </a:r>
            <a:r>
              <a:rPr lang="en" sz="1200"/>
              <a:t>using something as its main source, foundation or support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Rigorous </a:t>
            </a:r>
            <a:r>
              <a:rPr lang="en" sz="1200"/>
              <a:t>extremely thorough, careful and accurate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Evidence </a:t>
            </a:r>
            <a:r>
              <a:rPr lang="en" sz="1200"/>
              <a:t>facts or information that show whether something is true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Subtitle </a:t>
            </a:r>
            <a:r>
              <a:rPr lang="en" sz="1200"/>
              <a:t>a secondary title that gives additional information about a book or other work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Revolutionize </a:t>
            </a:r>
            <a:r>
              <a:rPr lang="en" sz="1200"/>
              <a:t>to completely change something in a significant way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go on doing something </a:t>
            </a:r>
            <a:r>
              <a:rPr lang="en" sz="1200"/>
              <a:t>continue doing something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do next to nothing </a:t>
            </a:r>
            <a:r>
              <a:rPr lang="en" sz="1200"/>
              <a:t>do almost nothing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015675" y="2170225"/>
            <a:ext cx="4120200" cy="3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Useful expressions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be based on evidence</a:t>
            </a:r>
            <a:r>
              <a:rPr lang="en" sz="1200">
                <a:solidFill>
                  <a:schemeClr val="dk1"/>
                </a:solidFill>
              </a:rPr>
              <a:t> = be supported by facts or information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rigorous evidence</a:t>
            </a:r>
            <a:r>
              <a:rPr lang="en" sz="1200">
                <a:solidFill>
                  <a:schemeClr val="dk1"/>
                </a:solidFill>
              </a:rPr>
              <a:t> = evidence collected or examined in a very careful and thorough way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unlike something</a:t>
            </a:r>
            <a:r>
              <a:rPr lang="en" sz="1200">
                <a:solidFill>
                  <a:schemeClr val="dk1"/>
                </a:solidFill>
              </a:rPr>
              <a:t> = in contrast to something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revolutionize something</a:t>
            </a:r>
            <a:r>
              <a:rPr lang="en" sz="1200">
                <a:solidFill>
                  <a:schemeClr val="dk1"/>
                </a:solidFill>
              </a:rPr>
              <a:t> = completely transform something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229075" y="241150"/>
            <a:ext cx="86328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Discussion Topics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Do night shifts have serious effects on people's health?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Should society adapt to people's natural body rhythms?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Should teenagers be allowed to start school later?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How do phones and screens affect our sleep?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Does it matter when we take medicine?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