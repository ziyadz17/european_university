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Outfit"/>
      <p:bold r:id="rId14"/>
      <p:boldItalic r:id="rId15"/>
    </p:embeddedFont>
    <p:embeddedFont>
      <p:font typeface="Plus Jakarta Sans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6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215241" y="2903843"/>
            <a:ext cx="9955098" cy="6794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7000" b="1" i="0" u="none" dirty="0">
                <a:solidFill>
                  <a:srgbClr val="F8FAFC"/>
                </a:solidFill>
                <a:latin typeface="+mj-lt"/>
              </a:rPr>
              <a:t>Past Modals &amp; Preferences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0451"/>
            <a:ext cx="1097280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36801"/>
            <a:ext cx="5372100" cy="1251346"/>
          </a:xfrm>
          <a:prstGeom prst="roundRect">
            <a:avLst>
              <a:gd name="adj" fmla="val 913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936801"/>
            <a:ext cx="5372100" cy="1251346"/>
          </a:xfrm>
          <a:prstGeom prst="roundRect">
            <a:avLst>
              <a:gd name="adj" fmla="val 9134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03501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4203501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90575"/>
            <a:ext cx="338220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+mj-lt"/>
              </a:rPr>
              <a:t>Structure (Past Modals)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29778" y="2965251"/>
            <a:ext cx="12508706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50" b="1" i="0" u="none">
                <a:solidFill>
                  <a:srgbClr val="1E293B"/>
                </a:solidFill>
                <a:latin typeface="Plus Jakarta Sans"/>
              </a:rPr>
              <a:t>Modal Verb + </a:t>
            </a:r>
            <a:r>
              <a:rPr sz="2250" b="1" i="0" u="none">
                <a:solidFill>
                  <a:srgbClr val="2563EB"/>
                </a:solidFill>
                <a:latin typeface="Plus Jakarta Sans"/>
              </a:rPr>
              <a:t>HAVE</a:t>
            </a:r>
            <a:r>
              <a:rPr sz="2250" b="1" i="0" u="none">
                <a:solidFill>
                  <a:srgbClr val="1E293B"/>
                </a:solidFill>
                <a:latin typeface="Plus Jakarta Sans"/>
              </a:rPr>
              <a:t> + </a:t>
            </a:r>
            <a:r>
              <a:rPr sz="2250" b="1" i="0" u="none">
                <a:solidFill>
                  <a:srgbClr val="D97706"/>
                </a:solidFill>
                <a:latin typeface="Plus Jakarta Sans"/>
              </a:rPr>
              <a:t>Past Participle (V3)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165401"/>
            <a:ext cx="6450806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E40AF"/>
                </a:solidFill>
                <a:latin typeface="Plus Jakarta Sans"/>
              </a:rPr>
              <a:t>Always Unchanged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79726"/>
            <a:ext cx="50101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Use </a:t>
            </a:r>
            <a:r>
              <a:rPr sz="1350" b="1" i="0" u="none" dirty="0">
                <a:solidFill>
                  <a:srgbClr val="334155"/>
                </a:solidFill>
                <a:latin typeface="Plus Jakarta Sans"/>
              </a:rPr>
              <a:t>HAVE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for all subjects (I, You, He, She, It, We, They). Never use </a:t>
            </a:r>
            <a:r>
              <a:rPr sz="1350" b="0" i="1" u="none" dirty="0">
                <a:solidFill>
                  <a:srgbClr val="334155"/>
                </a:solidFill>
                <a:latin typeface="Plus Jakarta Sans"/>
              </a:rPr>
              <a:t>has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or </a:t>
            </a:r>
            <a:r>
              <a:rPr sz="1350" b="0" i="1" u="none" dirty="0">
                <a:solidFill>
                  <a:srgbClr val="334155"/>
                </a:solidFill>
                <a:latin typeface="Plus Jakarta Sans"/>
              </a:rPr>
              <a:t>had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4165401"/>
            <a:ext cx="5753100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2400E"/>
                </a:solidFill>
                <a:latin typeface="Plus Jakarta Sans"/>
              </a:rPr>
              <a:t>Third Form (V3)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4479726"/>
            <a:ext cx="50101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Always use the past participle form: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gone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seen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done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finished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left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87997"/>
            <a:ext cx="3505200" cy="2310705"/>
          </a:xfrm>
          <a:prstGeom prst="roundRect">
            <a:avLst>
              <a:gd name="adj" fmla="val 65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74590"/>
            <a:ext cx="3505200" cy="2537370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74590"/>
            <a:ext cx="3505200" cy="2537370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790575"/>
            <a:ext cx="5083443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00" b="1" i="0" u="none" dirty="0">
                <a:solidFill>
                  <a:srgbClr val="0F172A"/>
                </a:solidFill>
                <a:latin typeface="Outfit"/>
              </a:rPr>
              <a:t>Key Grammar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2397"/>
            <a:ext cx="3800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1. Past Deductions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45297"/>
            <a:ext cx="299085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Guessing or speculating about past events based on present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2927"/>
            <a:ext cx="3619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Must, can't, may, might + have + 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588990"/>
            <a:ext cx="3800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2. Regret &amp; Criticism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3931890"/>
            <a:ext cx="299085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Evaluating past decisions or actions that were bad ideas or missed chances.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4726185"/>
            <a:ext cx="3619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97706"/>
                </a:solidFill>
                <a:latin typeface="Plus Jakarta Sans"/>
              </a:rPr>
              <a:t>Should / ought to + have +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588990"/>
            <a:ext cx="3800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3. Preferences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931890"/>
            <a:ext cx="2990850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Stating present or future preferences for oneself or desired actions from others.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4726185"/>
            <a:ext cx="3619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7C3AED"/>
                </a:solidFill>
                <a:latin typeface="Plus Jakarta Sans"/>
              </a:rPr>
              <a:t>Would rather + V1 / Past Simple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44100" y="671512"/>
            <a:ext cx="1638300" cy="37147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9075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71850"/>
            <a:ext cx="10972800" cy="99060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52950"/>
            <a:ext cx="10972800" cy="99060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34600" y="747712"/>
            <a:ext cx="1352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Plus Jakarta Sans"/>
              </a:rPr>
              <a:t>90–100% 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"/>
            <a:ext cx="442555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Must Have +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419350"/>
            <a:ext cx="11353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Meaning: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336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We are almost logically certain that something happened based on clear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00450"/>
            <a:ext cx="11306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Plus Jakarta Sans"/>
              </a:rPr>
              <a:t>Example 1: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895725"/>
            <a:ext cx="11306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66534"/>
                </a:solidFill>
                <a:latin typeface="Plus Jakarta Sans"/>
              </a:rPr>
              <a:t>"The ground is soaking wet. It </a:t>
            </a:r>
            <a:r>
              <a:rPr sz="1500" b="1" i="0" u="none">
                <a:solidFill>
                  <a:srgbClr val="166534"/>
                </a:solidFill>
                <a:latin typeface="Plus Jakarta Sans"/>
              </a:rPr>
              <a:t>must have rained</a:t>
            </a:r>
            <a:r>
              <a:rPr sz="1500" b="0" i="0" u="none">
                <a:solidFill>
                  <a:srgbClr val="166534"/>
                </a:solidFill>
                <a:latin typeface="Plus Jakarta Sans"/>
              </a:rPr>
              <a:t> heavily last night."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781550"/>
            <a:ext cx="11306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4532D"/>
                </a:solidFill>
                <a:latin typeface="Plus Jakarta Sans"/>
              </a:rPr>
              <a:t>Example 2: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5076825"/>
            <a:ext cx="11306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66534"/>
                </a:solidFill>
                <a:latin typeface="Plus Jakarta Sans"/>
              </a:rPr>
              <a:t>"Sarah got 100% on her final exam. She </a:t>
            </a:r>
            <a:r>
              <a:rPr sz="1500" b="1" i="0" u="none">
                <a:solidFill>
                  <a:srgbClr val="166534"/>
                </a:solidFill>
                <a:latin typeface="Plus Jakarta Sans"/>
              </a:rPr>
              <a:t>must have studied</a:t>
            </a:r>
            <a:r>
              <a:rPr sz="1500" b="0" i="0" u="none">
                <a:solidFill>
                  <a:srgbClr val="166534"/>
                </a:solidFill>
                <a:latin typeface="Plus Jakarta Sans"/>
              </a:rPr>
              <a:t> for hours."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0700" y="671512"/>
            <a:ext cx="2171700" cy="37147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9075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71850"/>
            <a:ext cx="10972800" cy="99060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52950"/>
            <a:ext cx="10972800" cy="99060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747712"/>
            <a:ext cx="18859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91C1C"/>
                </a:solidFill>
                <a:latin typeface="Plus Jakarta Sans"/>
              </a:rPr>
              <a:t>90–100% Impossible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"/>
            <a:ext cx="448806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Outfit"/>
              </a:rPr>
              <a:t>Can't Have +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419350"/>
            <a:ext cx="11353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Meaning: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336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We are almost certain that something was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impossible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or did not happen.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00450"/>
            <a:ext cx="11306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Plus Jakarta Sans"/>
              </a:rPr>
              <a:t>Example 1: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895725"/>
            <a:ext cx="11306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91B1B"/>
                </a:solidFill>
                <a:latin typeface="Plus Jakarta Sans"/>
              </a:rPr>
              <a:t>"You saw Mark in London yesterday? You </a:t>
            </a:r>
            <a:r>
              <a:rPr sz="1500" b="1" i="0" u="none">
                <a:solidFill>
                  <a:srgbClr val="991B1B"/>
                </a:solidFill>
                <a:latin typeface="Plus Jakarta Sans"/>
              </a:rPr>
              <a:t>can't have seen</a:t>
            </a:r>
            <a:r>
              <a:rPr sz="1500" b="0" i="0" u="none">
                <a:solidFill>
                  <a:srgbClr val="991B1B"/>
                </a:solidFill>
                <a:latin typeface="Plus Jakarta Sans"/>
              </a:rPr>
              <a:t> him. He is in Tokyo!"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781550"/>
            <a:ext cx="11306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F1D1D"/>
                </a:solidFill>
                <a:latin typeface="Plus Jakarta Sans"/>
              </a:rPr>
              <a:t>Example 2: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5076825"/>
            <a:ext cx="11306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91B1B"/>
                </a:solidFill>
                <a:latin typeface="Plus Jakarta Sans"/>
              </a:rPr>
              <a:t>"He </a:t>
            </a:r>
            <a:r>
              <a:rPr sz="1500" b="1" i="0" u="none">
                <a:solidFill>
                  <a:srgbClr val="991B1B"/>
                </a:solidFill>
                <a:latin typeface="Plus Jakarta Sans"/>
              </a:rPr>
              <a:t>can't have stolen</a:t>
            </a:r>
            <a:r>
              <a:rPr sz="1500" b="0" i="0" u="none">
                <a:solidFill>
                  <a:srgbClr val="991B1B"/>
                </a:solidFill>
                <a:latin typeface="Plus Jakarta Sans"/>
              </a:rPr>
              <a:t> the money because he wasn't at the office."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05975" y="671512"/>
            <a:ext cx="1876425" cy="3714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9075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71850"/>
            <a:ext cx="10972800" cy="990600"/>
          </a:xfrm>
          <a:prstGeom prst="roundRect">
            <a:avLst>
              <a:gd name="adj" fmla="val 7692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52950"/>
            <a:ext cx="10972800" cy="990600"/>
          </a:xfrm>
          <a:prstGeom prst="roundRect">
            <a:avLst>
              <a:gd name="adj" fmla="val 7692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96475" y="747712"/>
            <a:ext cx="15906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45309"/>
                </a:solidFill>
                <a:latin typeface="Plus Jakarta Sans"/>
              </a:rPr>
              <a:t>30–50% 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"/>
            <a:ext cx="46005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May / Might Have +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419350"/>
            <a:ext cx="11353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Meaning: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336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It is possible that something happened, but we are not sure (speculation/guessing).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00450"/>
            <a:ext cx="11306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8350F"/>
                </a:solidFill>
                <a:latin typeface="Plus Jakarta Sans"/>
              </a:rPr>
              <a:t>Example 1: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895725"/>
            <a:ext cx="11306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2400E"/>
                </a:solidFill>
                <a:latin typeface="Plus Jakarta Sans"/>
              </a:rPr>
              <a:t>"I can't find my keys. I </a:t>
            </a:r>
            <a:r>
              <a:rPr sz="1500" b="1" i="0" u="none">
                <a:solidFill>
                  <a:srgbClr val="92400E"/>
                </a:solidFill>
                <a:latin typeface="Plus Jakarta Sans"/>
              </a:rPr>
              <a:t>might have left</a:t>
            </a:r>
            <a:r>
              <a:rPr sz="1500" b="0" i="0" u="none">
                <a:solidFill>
                  <a:srgbClr val="92400E"/>
                </a:solidFill>
                <a:latin typeface="Plus Jakarta Sans"/>
              </a:rPr>
              <a:t> them on my desk."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781550"/>
            <a:ext cx="11306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8350F"/>
                </a:solidFill>
                <a:latin typeface="Plus Jakarta Sans"/>
              </a:rPr>
              <a:t>Example 2: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5076825"/>
            <a:ext cx="11306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2400E"/>
                </a:solidFill>
                <a:latin typeface="Plus Jakarta Sans"/>
              </a:rPr>
              <a:t>"She didn't answer her phone. She </a:t>
            </a:r>
            <a:r>
              <a:rPr sz="1500" b="1" i="0" u="none">
                <a:solidFill>
                  <a:srgbClr val="92400E"/>
                </a:solidFill>
                <a:latin typeface="Plus Jakarta Sans"/>
              </a:rPr>
              <a:t>may have been</a:t>
            </a:r>
            <a:r>
              <a:rPr sz="1500" b="0" i="0" u="none">
                <a:solidFill>
                  <a:srgbClr val="92400E"/>
                </a:solidFill>
                <a:latin typeface="Plus Jakarta Sans"/>
              </a:rPr>
              <a:t> busy."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06000" y="671512"/>
            <a:ext cx="1676400" cy="371475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90750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71850"/>
            <a:ext cx="10972800" cy="99060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52950"/>
            <a:ext cx="10972800" cy="990600"/>
          </a:xfrm>
          <a:prstGeom prst="roundRect">
            <a:avLst>
              <a:gd name="adj" fmla="val 7692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96500" y="747712"/>
            <a:ext cx="1390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B21A8"/>
                </a:solidFill>
                <a:latin typeface="Plus Jakarta Sans"/>
              </a:rPr>
              <a:t>Advice / Regret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"/>
            <a:ext cx="573821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Should / Ought to Have + 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419350"/>
            <a:ext cx="11353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Meaning: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336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Expressing that something was a good idea in the past, but it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did not happen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600450"/>
            <a:ext cx="11306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81C87"/>
                </a:solidFill>
                <a:latin typeface="Plus Jakarta Sans"/>
              </a:rPr>
              <a:t>Positive (Regret / Missed Duty):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895725"/>
            <a:ext cx="11306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B21A8"/>
                </a:solidFill>
                <a:latin typeface="Plus Jakarta Sans"/>
              </a:rPr>
              <a:t>"I failed the exam. I </a:t>
            </a:r>
            <a:r>
              <a:rPr sz="1500" b="1" i="0" u="none">
                <a:solidFill>
                  <a:srgbClr val="6B21A8"/>
                </a:solidFill>
                <a:latin typeface="Plus Jakarta Sans"/>
              </a:rPr>
              <a:t>should have studied</a:t>
            </a:r>
            <a:r>
              <a:rPr sz="1500" b="0" i="0" u="none">
                <a:solidFill>
                  <a:srgbClr val="6B21A8"/>
                </a:solidFill>
                <a:latin typeface="Plus Jakarta Sans"/>
              </a:rPr>
              <a:t> harder." (or </a:t>
            </a:r>
            <a:r>
              <a:rPr sz="1500" b="0" i="1" u="none">
                <a:solidFill>
                  <a:srgbClr val="6B21A8"/>
                </a:solidFill>
                <a:latin typeface="Plus Jakarta Sans"/>
              </a:rPr>
              <a:t>ought to have studied</a:t>
            </a:r>
            <a:r>
              <a:rPr sz="1500" b="0" i="0" u="none">
                <a:solidFill>
                  <a:srgbClr val="6B21A8"/>
                </a:solidFill>
                <a:latin typeface="Plus Jakarta Sans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781550"/>
            <a:ext cx="113061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81C87"/>
                </a:solidFill>
                <a:latin typeface="Plus Jakarta Sans"/>
              </a:rPr>
              <a:t>Negative (Criticism / Mistake):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5076825"/>
            <a:ext cx="11306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B21A8"/>
                </a:solidFill>
                <a:latin typeface="Plus Jakarta Sans"/>
              </a:rPr>
              <a:t>"You </a:t>
            </a:r>
            <a:r>
              <a:rPr sz="1500" b="1" i="0" u="none">
                <a:solidFill>
                  <a:srgbClr val="6B21A8"/>
                </a:solidFill>
                <a:latin typeface="Plus Jakarta Sans"/>
              </a:rPr>
              <a:t>shouldn't have eaten</a:t>
            </a:r>
            <a:r>
              <a:rPr sz="1500" b="0" i="0" u="none">
                <a:solidFill>
                  <a:srgbClr val="6B21A8"/>
                </a:solidFill>
                <a:latin typeface="Plus Jakarta Sans"/>
              </a:rPr>
              <a:t> so much cake. Now you feel sick!"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20225" y="671512"/>
            <a:ext cx="2162175" cy="3714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286125"/>
            <a:ext cx="5391150" cy="1371600"/>
          </a:xfrm>
          <a:prstGeom prst="roundRect">
            <a:avLst>
              <a:gd name="adj" fmla="val 5555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3286125"/>
            <a:ext cx="5391150" cy="1371600"/>
          </a:xfrm>
          <a:prstGeom prst="roundRect">
            <a:avLst>
              <a:gd name="adj" fmla="val 5555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10725" y="747712"/>
            <a:ext cx="18764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Same Subject (I / We)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52475"/>
            <a:ext cx="7700962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Would Rather + Infinitive (Without </a:t>
            </a:r>
            <a:r>
              <a:rPr sz="2700" b="1" i="1" u="none">
                <a:solidFill>
                  <a:srgbClr val="0F172A"/>
                </a:solidFill>
                <a:latin typeface="Outfit"/>
              </a:rPr>
              <a:t>To</a:t>
            </a:r>
            <a:r>
              <a:rPr sz="2700" b="1" i="0" u="none">
                <a:solidFill>
                  <a:srgbClr val="0F172A"/>
                </a:solidFill>
                <a:latin typeface="Outfi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77403" y="2581275"/>
            <a:ext cx="126039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293B"/>
                </a:solidFill>
                <a:latin typeface="Plus Jakarta Sans"/>
              </a:rPr>
              <a:t>Subject + would rather ('d rather) + </a:t>
            </a:r>
            <a:r>
              <a:rPr sz="1800" b="1" i="0" u="none">
                <a:solidFill>
                  <a:srgbClr val="2563EB"/>
                </a:solidFill>
                <a:latin typeface="Plus Jakarta Sans"/>
              </a:rPr>
              <a:t>Bare Infinitive (V1)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476625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Plus Jakarta Sans"/>
              </a:rPr>
              <a:t>Present / Future Preference (Alternative to </a:t>
            </a:r>
            <a:r>
              <a:rPr sz="1200" b="1" i="1" u="none">
                <a:solidFill>
                  <a:srgbClr val="14532D"/>
                </a:solidFill>
                <a:latin typeface="Plus Jakarta Sans"/>
              </a:rPr>
              <a:t>would prefer to</a:t>
            </a:r>
            <a:r>
              <a:rPr sz="1200" b="1" i="0" u="none">
                <a:solidFill>
                  <a:srgbClr val="14532D"/>
                </a:solidFill>
                <a:latin typeface="Plus Jakarta Sans"/>
              </a:rPr>
              <a:t>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733800"/>
            <a:ext cx="50577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66534"/>
                </a:solidFill>
                <a:latin typeface="Plus Jakarta Sans"/>
              </a:rPr>
              <a:t>• "Listen, </a:t>
            </a:r>
            <a:r>
              <a:rPr sz="1350" b="1" i="0" u="none">
                <a:solidFill>
                  <a:srgbClr val="166534"/>
                </a:solidFill>
                <a:latin typeface="Plus Jakarta Sans"/>
              </a:rPr>
              <a:t>I'd rather talk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about this tomorrow, when we've both calmed down."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248150"/>
            <a:ext cx="62031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66534"/>
                </a:solidFill>
                <a:latin typeface="Plus Jakarta Sans"/>
              </a:rPr>
              <a:t>• "I'd rather </a:t>
            </a:r>
            <a:r>
              <a:rPr sz="1350" b="1" i="0" u="none">
                <a:solidFill>
                  <a:srgbClr val="166534"/>
                </a:solidFill>
                <a:latin typeface="Plus Jakarta Sans"/>
              </a:rPr>
              <a:t>go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on holiday in July than August."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476625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8350F"/>
                </a:solidFill>
                <a:latin typeface="Plus Jakarta Sans"/>
              </a:rPr>
              <a:t>Questions &amp; Negatives: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733800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2400E"/>
                </a:solidFill>
                <a:latin typeface="Plus Jakarta Sans"/>
              </a:rPr>
              <a:t>• "</a:t>
            </a:r>
            <a:r>
              <a:rPr sz="1350" b="1" i="0" u="none">
                <a:solidFill>
                  <a:srgbClr val="92400E"/>
                </a:solidFill>
                <a:latin typeface="Plus Jakarta Sans"/>
              </a:rPr>
              <a:t>Would you rather stay</a:t>
            </a:r>
            <a:r>
              <a:rPr sz="1350" b="0" i="0" u="none">
                <a:solidFill>
                  <a:srgbClr val="92400E"/>
                </a:solidFill>
                <a:latin typeface="Plus Jakarta Sans"/>
              </a:rPr>
              <a:t> in or go out tonight?"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02907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2400E"/>
                </a:solidFill>
                <a:latin typeface="Plus Jakarta Sans"/>
              </a:rPr>
              <a:t>• "I'd </a:t>
            </a:r>
            <a:r>
              <a:rPr sz="1350" b="1" i="0" u="none">
                <a:solidFill>
                  <a:srgbClr val="92400E"/>
                </a:solidFill>
                <a:latin typeface="Plus Jakarta Sans"/>
              </a:rPr>
              <a:t>rather not go</a:t>
            </a:r>
            <a:r>
              <a:rPr sz="1350" b="0" i="0" u="none">
                <a:solidFill>
                  <a:srgbClr val="92400E"/>
                </a:solidFill>
                <a:latin typeface="Plus Jakarta Sans"/>
              </a:rPr>
              <a:t> out tonight. I'm really tired."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77400" y="671512"/>
            <a:ext cx="1905000" cy="371475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41339"/>
            <a:ext cx="10972800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074789"/>
            <a:ext cx="10972800" cy="1175146"/>
          </a:xfrm>
          <a:prstGeom prst="roundRect">
            <a:avLst>
              <a:gd name="adj" fmla="val 9726"/>
            </a:avLst>
          </a:prstGeom>
          <a:solidFill>
            <a:srgbClr val="F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440435"/>
            <a:ext cx="5391150" cy="1152525"/>
          </a:xfrm>
          <a:prstGeom prst="roundRect">
            <a:avLst>
              <a:gd name="adj" fmla="val 661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0" y="4440435"/>
            <a:ext cx="5391150" cy="1152525"/>
          </a:xfrm>
          <a:prstGeom prst="roundRect">
            <a:avLst>
              <a:gd name="adj" fmla="val 6611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67900" y="747712"/>
            <a:ext cx="1619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B21A8"/>
                </a:solidFill>
                <a:latin typeface="Plus Jakarta Sans"/>
              </a:rPr>
              <a:t>Different Subjects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52475"/>
            <a:ext cx="728841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Would Rather + Person + Past Tense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77403" y="2369939"/>
            <a:ext cx="1260395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293B"/>
                </a:solidFill>
                <a:latin typeface="Plus Jakarta Sans"/>
              </a:rPr>
              <a:t>Subject + would rather + </a:t>
            </a:r>
            <a:r>
              <a:rPr sz="1800" b="1" i="0" u="none">
                <a:solidFill>
                  <a:srgbClr val="7C3AED"/>
                </a:solidFill>
                <a:latin typeface="Plus Jakarta Sans"/>
              </a:rPr>
              <a:t>Person / Subject 2</a:t>
            </a:r>
            <a:r>
              <a:rPr sz="1800" b="1" i="0" u="none">
                <a:solidFill>
                  <a:srgbClr val="1E293B"/>
                </a:solidFill>
                <a:latin typeface="Plus Jakarta Sans"/>
              </a:rPr>
              <a:t> + </a:t>
            </a:r>
            <a:r>
              <a:rPr sz="1800" b="1" i="0" u="none">
                <a:solidFill>
                  <a:srgbClr val="D97706"/>
                </a:solidFill>
                <a:latin typeface="Plus Jakarta Sans"/>
              </a:rPr>
              <a:t>Past Simple Verb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265289"/>
            <a:ext cx="11353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1C87"/>
                </a:solidFill>
                <a:latin typeface="Plus Jakarta Sans"/>
              </a:rPr>
              <a:t>Usage &amp; Meaning: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579614"/>
            <a:ext cx="106108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We use this structure to talk about what we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would like another person to do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in the present or future. It is a polite alternative to </a:t>
            </a:r>
            <a:r>
              <a:rPr sz="1350" b="0" i="1" u="none">
                <a:solidFill>
                  <a:srgbClr val="334155"/>
                </a:solidFill>
                <a:latin typeface="Plus Jakarta Sans"/>
              </a:rPr>
              <a:t>"I would prefer it if..."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630935"/>
            <a:ext cx="620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4532D"/>
                </a:solidFill>
                <a:latin typeface="Plus Jakarta Sans"/>
              </a:rPr>
              <a:t>Positive Example: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888110"/>
            <a:ext cx="62031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66534"/>
                </a:solidFill>
                <a:latin typeface="Plus Jakarta Sans"/>
              </a:rPr>
              <a:t>"I'd rather </a:t>
            </a:r>
            <a:r>
              <a:rPr sz="1350" b="1" i="0" u="none">
                <a:solidFill>
                  <a:srgbClr val="166534"/>
                </a:solidFill>
                <a:latin typeface="Plus Jakarta Sans"/>
              </a:rPr>
              <a:t>you came</a:t>
            </a:r>
            <a:r>
              <a:rPr sz="1350" b="0" i="0" u="none">
                <a:solidFill>
                  <a:srgbClr val="166534"/>
                </a:solidFill>
                <a:latin typeface="Plus Jakarta Sans"/>
              </a:rPr>
              <a:t> on Saturday; I'm a bit busy on Friday."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630935"/>
            <a:ext cx="5762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7F1D1D"/>
                </a:solidFill>
                <a:latin typeface="Plus Jakarta Sans"/>
              </a:rPr>
              <a:t>Negative Example (didn't + V1):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4888110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91B1B"/>
                </a:solidFill>
                <a:latin typeface="Plus Jakarta Sans"/>
              </a:rPr>
              <a:t>"I'd rather </a:t>
            </a:r>
            <a:r>
              <a:rPr sz="1350" b="1" i="0" u="none">
                <a:solidFill>
                  <a:srgbClr val="991B1B"/>
                </a:solidFill>
                <a:latin typeface="Plus Jakarta Sans"/>
              </a:rPr>
              <a:t>we didn't argue</a:t>
            </a:r>
            <a:r>
              <a:rPr sz="1350" b="0" i="0" u="none">
                <a:solidFill>
                  <a:srgbClr val="991B1B"/>
                </a:solidFill>
                <a:latin typeface="Plus Jakarta Sans"/>
              </a:rPr>
              <a:t>, but this is very important to me."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518338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91B1B"/>
                </a:solidFill>
                <a:latin typeface="Plus Jakarta Sans"/>
              </a:rPr>
              <a:t>"I'd rather </a:t>
            </a:r>
            <a:r>
              <a:rPr sz="1350" b="1" i="0" u="none">
                <a:solidFill>
                  <a:srgbClr val="991B1B"/>
                </a:solidFill>
                <a:latin typeface="Plus Jakarta Sans"/>
              </a:rPr>
              <a:t>you didn't smoke</a:t>
            </a:r>
            <a:r>
              <a:rPr sz="1350" b="0" i="0" u="none">
                <a:solidFill>
                  <a:srgbClr val="991B1B"/>
                </a:solidFill>
                <a:latin typeface="Plus Jakarta Sans"/>
              </a:rPr>
              <a:t> in here, if you don't mind."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95512"/>
            <a:ext cx="10972800" cy="3381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195512"/>
          <a:ext cx="10972798" cy="3381375"/>
        </p:xfrm>
        <a:graphic>
          <a:graphicData uri="http://schemas.openxmlformats.org/drawingml/2006/table">
            <a:tbl>
              <a:tblPr/>
              <a:tblGrid>
                <a:gridCol w="3335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1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05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Grammar 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Function / Meaning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Example Sentences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05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must have + V3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90% Sure (Positive)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He </a:t>
                      </a:r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must have forgotten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his wallet.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05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can't have + V3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90% Impossible (Negative)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She </a:t>
                      </a:r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can't have done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it.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05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may / might have + V3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50% Possible (Uncertainty)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They </a:t>
                      </a:r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might have lost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the game.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05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7C3AED"/>
                          </a:solidFill>
                          <a:latin typeface="Plus Jakarta Sans"/>
                        </a:rPr>
                        <a:t>should / ought to have + V3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Regret / Past Criticism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You </a:t>
                      </a:r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should have called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me.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05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would rather + V1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Self Preference (Present/Future)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</a:t>
                      </a:r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'd rather go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home now.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057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6B21A8"/>
                          </a:solidFill>
                          <a:latin typeface="Plus Jakarta Sans"/>
                        </a:rPr>
                        <a:t>would rather + person + Past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Desiring Action From Others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</a:t>
                      </a:r>
                      <a:r>
                        <a:rPr sz="12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'd rather you didn't smoke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here.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Complete Grammar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76500"/>
            <a:ext cx="109728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28975"/>
            <a:ext cx="109728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81450"/>
            <a:ext cx="109728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733925"/>
            <a:ext cx="109728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Outfit"/>
              </a:rPr>
              <a:t>Complete with the Correct Verb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6700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Look! The lights are off. They ___________________ (must / go)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41947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I'd rather you ___________________ (not / play) loud music right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17195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Would you rather ___________________ (stay) at home or go out tonight?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924425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4.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I feel terrible today. I ___________________ (should / not / eat) all that junk food.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81275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514725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448175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Outfit"/>
              </a:rPr>
              <a:t>Spot &amp; Correct the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733675"/>
            <a:ext cx="11344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1. Incorrect:</a:t>
            </a:r>
            <a:r>
              <a:rPr sz="1350" b="0" i="0" u="none">
                <a:solidFill>
                  <a:srgbClr val="991B1B"/>
                </a:solidFill>
                <a:latin typeface="Plus Jakarta Sans"/>
              </a:rPr>
              <a:t> "I'd not rather go out tonight because I'm tired."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67125"/>
            <a:ext cx="11344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2. Incorrect:</a:t>
            </a:r>
            <a:r>
              <a:rPr sz="1350" b="0" i="0" u="none">
                <a:solidFill>
                  <a:srgbClr val="991B1B"/>
                </a:solidFill>
                <a:latin typeface="Plus Jakarta Sans"/>
              </a:rPr>
              <a:t> "I'd rather you don't smoke in here, if you don't mind."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600575"/>
            <a:ext cx="113442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3. Incorrect:</a:t>
            </a:r>
            <a:r>
              <a:rPr sz="1350" b="0" i="0" u="none">
                <a:solidFill>
                  <a:srgbClr val="991B1B"/>
                </a:solidFill>
                <a:latin typeface="Plus Jakarta Sans"/>
              </a:rPr>
              <a:t> "She must has forgotten her coat at home."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860</Words>
  <Application>Microsoft Macintosh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Outfit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salome kharaishvili</cp:lastModifiedBy>
  <cp:revision>4</cp:revision>
  <dcterms:created xsi:type="dcterms:W3CDTF">2013-01-27T09:14:16Z</dcterms:created>
  <dcterms:modified xsi:type="dcterms:W3CDTF">2026-10-05T18:28:46Z</dcterms:modified>
  <cp:category/>
</cp:coreProperties>
</file>